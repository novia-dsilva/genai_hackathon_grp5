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64" r:id="rId3"/>
    <p:sldId id="265" r:id="rId4"/>
    <p:sldId id="257" r:id="rId5"/>
    <p:sldId id="266" r:id="rId6"/>
    <p:sldId id="260" r:id="rId7"/>
    <p:sldId id="271" r:id="rId8"/>
    <p:sldId id="272" r:id="rId9"/>
    <p:sldId id="273" r:id="rId10"/>
    <p:sldId id="267" r:id="rId11"/>
    <p:sldId id="269" r:id="rId12"/>
    <p:sldId id="274" r:id="rId13"/>
    <p:sldId id="263"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autoAdjust="0"/>
    <p:restoredTop sz="88745" autoAdjust="0"/>
  </p:normalViewPr>
  <p:slideViewPr>
    <p:cSldViewPr snapToGrid="0" snapToObjects="1">
      <p:cViewPr varScale="1">
        <p:scale>
          <a:sx n="127" d="100"/>
          <a:sy n="127" d="100"/>
        </p:scale>
        <p:origin x="91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64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(0:00–0:40): Hi, we're Group 6. Our project is a LangChain-powered World Cup Match Predictor and Analyst Chatbot — Track 1. We built a conversational AI that answers historical World Cup questions using RAG, and can predict match outcomes using a 5-factor statistical model. Our data comes from Kaggle — 49,000+ match records. Let me hand off to [Person 2] to walk through the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DFFEA-4F00-8CB4-A46F-74FF1BCF0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E8DABE-26DE-1B85-F53C-DE99541EA33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DE25EE-4DA1-25D7-03A6-9F057AF7AD2E}"/>
              </a:ext>
            </a:extLst>
          </p:cNvPr>
          <p:cNvSpPr>
            <a:spLocks noGrp="1"/>
          </p:cNvSpPr>
          <p:nvPr>
            <p:ph type="body" sz="quarter" idx="3"/>
          </p:nvPr>
        </p:nvSpPr>
        <p:spPr/>
        <p:txBody>
          <a:bodyPr/>
          <a:lstStyle/>
          <a:p>
            <a:r>
              <a:t>PERSON 2 (0:40–1:30): We used Tier 1 — offline Kaggle CSV datasets. No API keys, no scraping. Four files: 49,071 match results from 1872 to 2026, 47,555 goal records, 597 penalty shootout outcomes, and 74 team name mappings. Our 6-stage pipeline ingests, validates — zero nulls confirmed — preprocesses, runs EDA, and builds a FAISS vector store. Fully reproducible on any machine.</a:t>
            </a:r>
          </a:p>
        </p:txBody>
      </p:sp>
      <p:sp>
        <p:nvSpPr>
          <p:cNvPr id="4" name="Slide Number Placeholder 3">
            <a:extLst>
              <a:ext uri="{FF2B5EF4-FFF2-40B4-BE49-F238E27FC236}">
                <a16:creationId xmlns:a16="http://schemas.microsoft.com/office/drawing/2014/main" id="{81A342E3-AF59-92C0-FB82-7C4133F2784F}"/>
              </a:ext>
            </a:extLst>
          </p:cNvPr>
          <p:cNvSpPr>
            <a:spLocks noGrp="1"/>
          </p:cNvSpPr>
          <p:nvPr>
            <p:ph type="sldNum" sz="quarter" idx="5"/>
          </p:nvPr>
        </p:nvSpPr>
        <p:spPr/>
      </p:sp>
    </p:spTree>
    <p:extLst>
      <p:ext uri="{BB962C8B-B14F-4D97-AF65-F5344CB8AC3E}">
        <p14:creationId xmlns:p14="http://schemas.microsoft.com/office/powerpoint/2010/main" val="424387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B4787-FE35-FD77-04E6-ABFA358C7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2A457-B789-6B5C-C8F8-6A60DE81AD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D6203A4-9253-7C43-52F2-21B8DCD14A63}"/>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EEBEB641-640F-1F86-28A3-BFE2ED6B3AD4}"/>
              </a:ext>
            </a:extLst>
          </p:cNvPr>
          <p:cNvSpPr>
            <a:spLocks noGrp="1"/>
          </p:cNvSpPr>
          <p:nvPr>
            <p:ph type="sldNum" sz="quarter" idx="5"/>
          </p:nvPr>
        </p:nvSpPr>
        <p:spPr/>
      </p:sp>
    </p:spTree>
    <p:extLst>
      <p:ext uri="{BB962C8B-B14F-4D97-AF65-F5344CB8AC3E}">
        <p14:creationId xmlns:p14="http://schemas.microsoft.com/office/powerpoint/2010/main" val="26423758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B49F-9AF4-5856-EC44-C0CFDCABB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6CFC8C-4B80-040D-3A04-93C46A20154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9302EE-DAB4-18F9-6D63-A50C0C90A108}"/>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22B97D6D-F58B-E8B8-5490-4A86F2527D57}"/>
              </a:ext>
            </a:extLst>
          </p:cNvPr>
          <p:cNvSpPr>
            <a:spLocks noGrp="1"/>
          </p:cNvSpPr>
          <p:nvPr>
            <p:ph type="sldNum" sz="quarter" idx="5"/>
          </p:nvPr>
        </p:nvSpPr>
        <p:spPr/>
      </p:sp>
    </p:spTree>
    <p:extLst>
      <p:ext uri="{BB962C8B-B14F-4D97-AF65-F5344CB8AC3E}">
        <p14:creationId xmlns:p14="http://schemas.microsoft.com/office/powerpoint/2010/main" val="1318621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FE72-9045-AF01-6214-465B0C86F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6EA273-3314-1814-2FD8-06C1958A63E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06270FC-D0E8-45A0-4FB9-BCE3D8FC623E}"/>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3C5E8327-71A8-B90F-01BA-D1220047DA6D}"/>
              </a:ext>
            </a:extLst>
          </p:cNvPr>
          <p:cNvSpPr>
            <a:spLocks noGrp="1"/>
          </p:cNvSpPr>
          <p:nvPr>
            <p:ph type="sldNum" sz="quarter" idx="5"/>
          </p:nvPr>
        </p:nvSpPr>
        <p:spPr/>
      </p:sp>
    </p:spTree>
    <p:extLst>
      <p:ext uri="{BB962C8B-B14F-4D97-AF65-F5344CB8AC3E}">
        <p14:creationId xmlns:p14="http://schemas.microsoft.com/office/powerpoint/2010/main" val="3481669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A5FAC-C0A8-D75F-C6ED-DBADE160F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093AB-77DF-8C14-07E0-617E18CAD63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C1DB2BB-8AC8-EA85-6767-2006C72EF1D6}"/>
              </a:ext>
            </a:extLst>
          </p:cNvPr>
          <p:cNvSpPr>
            <a:spLocks noGrp="1"/>
          </p:cNvSpPr>
          <p:nvPr>
            <p:ph type="body" sz="quarter" idx="3"/>
          </p:nvPr>
        </p:nvSpPr>
        <p:spPr/>
        <p:txBody>
          <a:bodyPr/>
          <a:lstStyle/>
          <a:p>
            <a:r>
              <a:t>PERSON 1 (demo intro, ~3:10): Before we show the live demo, here are four key insights from our EDA. First — World Cup match count grew 2.8x since 1930, with clear jumps at expansion years. Second — home teams win 45% of matches vs 29% away. Third — Brazil leads all-time WC wins with 76. Fourth — modern tournaments average 2.6 goals per match, down from 4.7 in 1954. All of these patterns are embedded in our FAISS vector store, so the chatbot can answer questions about them directly.</a:t>
            </a:r>
          </a:p>
        </p:txBody>
      </p:sp>
      <p:sp>
        <p:nvSpPr>
          <p:cNvPr id="4" name="Slide Number Placeholder 3">
            <a:extLst>
              <a:ext uri="{FF2B5EF4-FFF2-40B4-BE49-F238E27FC236}">
                <a16:creationId xmlns:a16="http://schemas.microsoft.com/office/drawing/2014/main" id="{5B57BE4A-8462-4DF4-7D4F-FC5160F8C3D1}"/>
              </a:ext>
            </a:extLst>
          </p:cNvPr>
          <p:cNvSpPr>
            <a:spLocks noGrp="1"/>
          </p:cNvSpPr>
          <p:nvPr>
            <p:ph type="sldNum" sz="quarter" idx="5"/>
          </p:nvPr>
        </p:nvSpPr>
        <p:spPr/>
      </p:sp>
    </p:spTree>
    <p:extLst>
      <p:ext uri="{BB962C8B-B14F-4D97-AF65-F5344CB8AC3E}">
        <p14:creationId xmlns:p14="http://schemas.microsoft.com/office/powerpoint/2010/main" val="41362713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87CD4-F8B2-33A4-FE64-BC707A668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CA30-312D-8AB5-C849-7CD88ED4367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F402BA-9828-5911-8C93-4B06DC40A90B}"/>
              </a:ext>
            </a:extLst>
          </p:cNvPr>
          <p:cNvSpPr>
            <a:spLocks noGrp="1"/>
          </p:cNvSpPr>
          <p:nvPr>
            <p:ph type="body" sz="quarter" idx="3"/>
          </p:nvPr>
        </p:nvSpPr>
        <p:spPr/>
        <p:txBody>
          <a:bodyPr/>
          <a:lstStyle/>
          <a:p>
            <a:r>
              <a:t>DEMO (2:20–4:00): Switch to the Gradio interface now. Person 1 sets preferences. Person 2 asks the history question and the follow-up to show memory. Person 3 runs the Argentina vs France prediction — point out the auto-generated bar chart and radar chart. Then show the Atlantis edge case — the fallback prompt fires and says 'I don't have data for this team.' Finally switch answer_style to brief and ask about Germany.</a:t>
            </a:r>
          </a:p>
        </p:txBody>
      </p:sp>
      <p:sp>
        <p:nvSpPr>
          <p:cNvPr id="4" name="Slide Number Placeholder 3">
            <a:extLst>
              <a:ext uri="{FF2B5EF4-FFF2-40B4-BE49-F238E27FC236}">
                <a16:creationId xmlns:a16="http://schemas.microsoft.com/office/drawing/2014/main" id="{BD668AC6-C782-8C48-B425-0C061B5AA13E}"/>
              </a:ext>
            </a:extLst>
          </p:cNvPr>
          <p:cNvSpPr>
            <a:spLocks noGrp="1"/>
          </p:cNvSpPr>
          <p:nvPr>
            <p:ph type="sldNum" sz="quarter" idx="5"/>
          </p:nvPr>
        </p:nvSpPr>
        <p:spPr/>
      </p:sp>
    </p:spTree>
    <p:extLst>
      <p:ext uri="{BB962C8B-B14F-4D97-AF65-F5344CB8AC3E}">
        <p14:creationId xmlns:p14="http://schemas.microsoft.com/office/powerpoint/2010/main" val="1725046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4942-2D93-3D2B-6C7C-F8F1A464CC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6732A-3B9D-D484-7DD1-5C71D4A07B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1D935EE-B4F3-84F3-A8C7-D47210D98B63}"/>
              </a:ext>
            </a:extLst>
          </p:cNvPr>
          <p:cNvSpPr>
            <a:spLocks noGrp="1"/>
          </p:cNvSpPr>
          <p:nvPr>
            <p:ph type="body" sz="quarter" idx="3"/>
          </p:nvPr>
        </p:nvSpPr>
        <p:spPr/>
        <p:txBody>
          <a:bodyPr/>
          <a:lstStyle/>
          <a:p>
            <a:r>
              <a:t>PERSON 1 (4:00–5:00): Here's how we map to each grading criterion. 40% architecture — 5 tools, 4 prompt templates, memory. 20% data — Tier 1 Kaggle, fully reproducible. 20% grounded outputs — no hallucination, fallback prompts. 10% innovation — Gradio UI, prediction charts. 10% presentation — this deck and the demo. On the right, each of us owned specific components.</a:t>
            </a:r>
          </a:p>
        </p:txBody>
      </p:sp>
      <p:sp>
        <p:nvSpPr>
          <p:cNvPr id="4" name="Slide Number Placeholder 3">
            <a:extLst>
              <a:ext uri="{FF2B5EF4-FFF2-40B4-BE49-F238E27FC236}">
                <a16:creationId xmlns:a16="http://schemas.microsoft.com/office/drawing/2014/main" id="{573FF450-C03D-CF5B-454C-5AF4085119EC}"/>
              </a:ext>
            </a:extLst>
          </p:cNvPr>
          <p:cNvSpPr>
            <a:spLocks noGrp="1"/>
          </p:cNvSpPr>
          <p:nvPr>
            <p:ph type="sldNum" sz="quarter" idx="5"/>
          </p:nvPr>
        </p:nvSpPr>
        <p:spPr/>
      </p:sp>
    </p:spTree>
    <p:extLst>
      <p:ext uri="{BB962C8B-B14F-4D97-AF65-F5344CB8AC3E}">
        <p14:creationId xmlns:p14="http://schemas.microsoft.com/office/powerpoint/2010/main" val="41636747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PERSON 3 (5:00–6:00): To wrap up — our limitations: data goes through early 2026, no real-time squad info, and outputs are educational only. We explicitly state these in every prediction response — that's part of our responsible AI design. Future work: Elo ratings, live API data, tournament simulation. What we delivered: a fully grounded, reproducible LangChain system — every stat from data, every answer citable, no hallucination.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457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martj42/international-football-results-from-1872-to-2017"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1" y="5943600"/>
            <a:ext cx="12188825" cy="91440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1097280" cy="914400"/>
          </a:xfrm>
          <a:prstGeom prst="rect">
            <a:avLst/>
          </a:prstGeom>
          <a:noFill/>
        </p:spPr>
        <p:txBody>
          <a:bodyPr wrap="square">
            <a:spAutoFit/>
          </a:bodyPr>
          <a:lstStyle/>
          <a:p>
            <a:pPr algn="l"/>
            <a:r>
              <a:rPr sz="5200" b="0" i="0">
                <a:solidFill>
                  <a:srgbClr val="FFFFFF"/>
                </a:solidFill>
                <a:latin typeface="Times New Roman" panose="02020603050405020304" pitchFamily="18" charset="0"/>
                <a:cs typeface="Times New Roman" panose="02020603050405020304" pitchFamily="18" charset="0"/>
              </a:rPr>
              <a:t>⚽</a:t>
            </a:r>
          </a:p>
        </p:txBody>
      </p:sp>
      <p:sp>
        <p:nvSpPr>
          <p:cNvPr id="6" name="Rectangle 5"/>
          <p:cNvSpPr/>
          <p:nvPr/>
        </p:nvSpPr>
        <p:spPr>
          <a:xfrm>
            <a:off x="-1" y="1280160"/>
            <a:ext cx="12188953" cy="261610"/>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365759" y="1280160"/>
            <a:ext cx="11503025" cy="261610"/>
          </a:xfrm>
          <a:prstGeom prst="rect">
            <a:avLst/>
          </a:prstGeom>
          <a:noFill/>
        </p:spPr>
        <p:txBody>
          <a:bodyPr wrap="square">
            <a:spAutoFit/>
          </a:bodyPr>
          <a:lstStyle/>
          <a:p>
            <a:pPr algn="ctr"/>
            <a:r>
              <a:rPr sz="1100" b="1" i="0">
                <a:solidFill>
                  <a:srgbClr val="FFFFFF"/>
                </a:solidFill>
                <a:latin typeface="Times New Roman" panose="02020603050405020304" pitchFamily="18" charset="0"/>
                <a:cs typeface="Times New Roman" panose="02020603050405020304" pitchFamily="18" charset="0"/>
              </a:rPr>
              <a:t>TRACK 1  |  GenAI Hackathon</a:t>
            </a:r>
          </a:p>
        </p:txBody>
      </p:sp>
      <p:sp>
        <p:nvSpPr>
          <p:cNvPr id="8" name="TextBox 7"/>
          <p:cNvSpPr txBox="1"/>
          <p:nvPr/>
        </p:nvSpPr>
        <p:spPr>
          <a:xfrm>
            <a:off x="221185" y="1664208"/>
            <a:ext cx="11503025" cy="2123658"/>
          </a:xfrm>
          <a:prstGeom prst="rect">
            <a:avLst/>
          </a:prstGeom>
          <a:noFill/>
        </p:spPr>
        <p:txBody>
          <a:bodyPr wrap="square">
            <a:spAutoFit/>
          </a:bodyPr>
          <a:lstStyle/>
          <a:p>
            <a:pPr algn="ctr"/>
            <a:r>
              <a:rPr sz="4400" b="1" i="0" dirty="0">
                <a:solidFill>
                  <a:srgbClr val="FFFFFF"/>
                </a:solidFill>
                <a:latin typeface="Times New Roman" panose="02020603050405020304" pitchFamily="18" charset="0"/>
                <a:cs typeface="Times New Roman" panose="02020603050405020304" pitchFamily="18" charset="0"/>
              </a:rPr>
              <a:t>World Cup Match</a:t>
            </a:r>
            <a:r>
              <a:rPr lang="en-IN" sz="4400" b="1" i="0" dirty="0">
                <a:solidFill>
                  <a:srgbClr val="FFFFFF"/>
                </a:solidFill>
                <a:latin typeface="Times New Roman" panose="02020603050405020304" pitchFamily="18" charset="0"/>
                <a:cs typeface="Times New Roman" panose="02020603050405020304" pitchFamily="18" charset="0"/>
              </a:rPr>
              <a:t> </a:t>
            </a:r>
            <a:r>
              <a:rPr sz="4400" b="1" i="0" dirty="0">
                <a:solidFill>
                  <a:srgbClr val="FFFFFF"/>
                </a:solidFill>
                <a:latin typeface="Times New Roman" panose="02020603050405020304" pitchFamily="18" charset="0"/>
                <a:cs typeface="Times New Roman" panose="02020603050405020304" pitchFamily="18" charset="0"/>
              </a:rPr>
              <a:t>Predictor </a:t>
            </a:r>
            <a:endParaRPr lang="en-IN" sz="4400" b="1" i="0" dirty="0">
              <a:solidFill>
                <a:srgbClr val="FFFFFF"/>
              </a:solidFill>
              <a:latin typeface="Times New Roman" panose="02020603050405020304" pitchFamily="18" charset="0"/>
              <a:cs typeface="Times New Roman" panose="02020603050405020304" pitchFamily="18" charset="0"/>
            </a:endParaRPr>
          </a:p>
          <a:p>
            <a:pPr algn="ctr"/>
            <a:r>
              <a:rPr sz="4400" b="1" i="0" dirty="0">
                <a:solidFill>
                  <a:srgbClr val="FFFFFF"/>
                </a:solidFill>
                <a:latin typeface="Times New Roman" panose="02020603050405020304" pitchFamily="18" charset="0"/>
                <a:cs typeface="Times New Roman" panose="02020603050405020304" pitchFamily="18" charset="0"/>
              </a:rPr>
              <a:t>&amp;
Analyst Chatbot</a:t>
            </a:r>
          </a:p>
        </p:txBody>
      </p:sp>
      <p:sp>
        <p:nvSpPr>
          <p:cNvPr id="9" name="TextBox 8"/>
          <p:cNvSpPr txBox="1"/>
          <p:nvPr/>
        </p:nvSpPr>
        <p:spPr>
          <a:xfrm>
            <a:off x="365760" y="3718929"/>
            <a:ext cx="3840480" cy="292388"/>
          </a:xfrm>
          <a:prstGeom prst="rect">
            <a:avLst/>
          </a:prstGeom>
          <a:noFill/>
        </p:spPr>
        <p:txBody>
          <a:bodyPr wrap="square">
            <a:spAutoFit/>
          </a:bodyPr>
          <a:lstStyle/>
          <a:p>
            <a:pPr algn="l"/>
            <a:r>
              <a:rPr sz="1300" b="0" i="1" dirty="0" err="1">
                <a:solidFill>
                  <a:srgbClr val="CCD6E0"/>
                </a:solidFill>
                <a:latin typeface="Times New Roman" panose="02020603050405020304" pitchFamily="18" charset="0"/>
                <a:cs typeface="Times New Roman" panose="02020603050405020304" pitchFamily="18" charset="0"/>
              </a:rPr>
              <a:t>LangChain</a:t>
            </a:r>
            <a:r>
              <a:rPr sz="1300" b="0" i="1" dirty="0">
                <a:solidFill>
                  <a:srgbClr val="CCD6E0"/>
                </a:solidFill>
                <a:latin typeface="Times New Roman" panose="02020603050405020304" pitchFamily="18" charset="0"/>
                <a:cs typeface="Times New Roman" panose="02020603050405020304" pitchFamily="18" charset="0"/>
              </a:rPr>
              <a:t> · FAISS · GPT-4o · RAG</a:t>
            </a:r>
          </a:p>
        </p:txBody>
      </p:sp>
      <p:grpSp>
        <p:nvGrpSpPr>
          <p:cNvPr id="37" name="Group 36">
            <a:extLst>
              <a:ext uri="{FF2B5EF4-FFF2-40B4-BE49-F238E27FC236}">
                <a16:creationId xmlns:a16="http://schemas.microsoft.com/office/drawing/2014/main" id="{93DB4613-CAC5-4528-BE1C-2B5DEAF52DF5}"/>
              </a:ext>
            </a:extLst>
          </p:cNvPr>
          <p:cNvGrpSpPr/>
          <p:nvPr/>
        </p:nvGrpSpPr>
        <p:grpSpPr>
          <a:xfrm>
            <a:off x="365759" y="4613911"/>
            <a:ext cx="2035278" cy="1159761"/>
            <a:chOff x="365760" y="4663440"/>
            <a:chExt cx="3657600" cy="1112869"/>
          </a:xfrm>
        </p:grpSpPr>
        <p:sp>
          <p:nvSpPr>
            <p:cNvPr id="10" name="TextBox 9"/>
            <p:cNvSpPr txBox="1"/>
            <p:nvPr/>
          </p:nvSpPr>
          <p:spPr>
            <a:xfrm>
              <a:off x="365760" y="4663440"/>
              <a:ext cx="3657600" cy="251032"/>
            </a:xfrm>
            <a:prstGeom prst="rect">
              <a:avLst/>
            </a:prstGeom>
            <a:noFill/>
          </p:spPr>
          <p:txBody>
            <a:bodyPr wrap="square">
              <a:spAutoFit/>
            </a:bodyPr>
            <a:lstStyle/>
            <a:p>
              <a:pPr algn="l"/>
              <a:r>
                <a:rPr sz="1100" b="1" i="0">
                  <a:solidFill>
                    <a:srgbClr val="C88600"/>
                  </a:solidFill>
                  <a:latin typeface="Times New Roman" panose="02020603050405020304" pitchFamily="18" charset="0"/>
                  <a:cs typeface="Times New Roman" panose="02020603050405020304" pitchFamily="18" charset="0"/>
                </a:rPr>
                <a:t>GROUP </a:t>
              </a:r>
              <a:r>
                <a:rPr lang="en-US" sz="1100" b="1" i="0">
                  <a:solidFill>
                    <a:srgbClr val="C88600"/>
                  </a:solidFill>
                  <a:latin typeface="Times New Roman" panose="02020603050405020304" pitchFamily="18" charset="0"/>
                  <a:cs typeface="Times New Roman" panose="02020603050405020304" pitchFamily="18" charset="0"/>
                </a:rPr>
                <a:t>5</a:t>
              </a:r>
              <a:endParaRPr sz="1100" b="1" i="0" dirty="0">
                <a:solidFill>
                  <a:srgbClr val="C886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365760" y="4983480"/>
              <a:ext cx="3657600" cy="198469"/>
            </a:xfrm>
            <a:prstGeom prst="rect">
              <a:avLst/>
            </a:prstGeom>
            <a:noFill/>
          </p:spPr>
          <p:txBody>
            <a:bodyPr wrap="square">
              <a:spAutoFit/>
            </a:bodyPr>
            <a:lstStyle/>
            <a:p>
              <a:pPr algn="l"/>
              <a:r>
                <a:rPr sz="1300" b="0" i="0" dirty="0">
                  <a:solidFill>
                    <a:srgbClr val="FFFFFF"/>
                  </a:solidFill>
                  <a:latin typeface="Times New Roman" panose="02020603050405020304" pitchFamily="18" charset="0"/>
                  <a:cs typeface="Times New Roman" panose="02020603050405020304" pitchFamily="18" charset="0"/>
                </a:rPr>
                <a:t>Novia Dsilva</a:t>
              </a:r>
            </a:p>
          </p:txBody>
        </p:sp>
        <p:sp>
          <p:nvSpPr>
            <p:cNvPr id="12" name="TextBox 11"/>
            <p:cNvSpPr txBox="1"/>
            <p:nvPr/>
          </p:nvSpPr>
          <p:spPr>
            <a:xfrm>
              <a:off x="365760" y="5285232"/>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Sushmitha Sudharsan</a:t>
              </a:r>
            </a:p>
          </p:txBody>
        </p:sp>
        <p:sp>
          <p:nvSpPr>
            <p:cNvPr id="13" name="TextBox 12"/>
            <p:cNvSpPr txBox="1"/>
            <p:nvPr/>
          </p:nvSpPr>
          <p:spPr>
            <a:xfrm>
              <a:off x="365760" y="5577840"/>
              <a:ext cx="3657600" cy="198469"/>
            </a:xfrm>
            <a:prstGeom prst="rect">
              <a:avLst/>
            </a:prstGeom>
            <a:noFill/>
          </p:spPr>
          <p:txBody>
            <a:bodyPr wrap="square">
              <a:spAutoFit/>
            </a:bodyPr>
            <a:lstStyle/>
            <a:p>
              <a:pPr algn="l"/>
              <a:r>
                <a:rPr sz="1300" b="0" i="0">
                  <a:solidFill>
                    <a:srgbClr val="FFFFFF"/>
                  </a:solidFill>
                  <a:latin typeface="Times New Roman" panose="02020603050405020304" pitchFamily="18" charset="0"/>
                  <a:cs typeface="Times New Roman" panose="02020603050405020304" pitchFamily="18" charset="0"/>
                </a:rPr>
                <a:t>Tanmayi Shurpali</a:t>
              </a:r>
            </a:p>
          </p:txBody>
        </p:sp>
      </p:grpSp>
      <p:sp>
        <p:nvSpPr>
          <p:cNvPr id="14" name="TextBox 13"/>
          <p:cNvSpPr txBox="1"/>
          <p:nvPr/>
        </p:nvSpPr>
        <p:spPr>
          <a:xfrm>
            <a:off x="365760" y="6126480"/>
            <a:ext cx="3657600" cy="261610"/>
          </a:xfrm>
          <a:prstGeom prst="rect">
            <a:avLst/>
          </a:prstGeom>
          <a:noFill/>
        </p:spPr>
        <p:txBody>
          <a:bodyPr wrap="square">
            <a:spAutoFit/>
          </a:bodyPr>
          <a:lstStyle/>
          <a:p>
            <a:pPr algn="l"/>
            <a:r>
              <a:rPr sz="1100" b="0" i="1">
                <a:solidFill>
                  <a:srgbClr val="FFFFFF"/>
                </a:solidFill>
                <a:latin typeface="Times New Roman" panose="02020603050405020304" pitchFamily="18" charset="0"/>
                <a:cs typeface="Times New Roman" panose="02020603050405020304" pitchFamily="18" charset="0"/>
              </a:rPr>
              <a:t>Spring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609441"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4" name="Text 2"/>
          <p:cNvSpPr/>
          <p:nvPr/>
        </p:nvSpPr>
        <p:spPr>
          <a:xfrm>
            <a:off x="975105"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The Challenge</a:t>
            </a:r>
            <a:endParaRPr lang="en-US" sz="1866" dirty="0">
              <a:latin typeface="Times New Roman" panose="02020603050405020304" pitchFamily="18" charset="0"/>
              <a:cs typeface="Times New Roman" panose="02020603050405020304" pitchFamily="18" charset="0"/>
            </a:endParaRPr>
          </a:p>
        </p:txBody>
      </p:sp>
      <p:sp>
        <p:nvSpPr>
          <p:cNvPr id="5" name="Text 3"/>
          <p:cNvSpPr/>
          <p:nvPr/>
        </p:nvSpPr>
        <p:spPr>
          <a:xfrm>
            <a:off x="975105"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Football fans need quick, data-backed answers about World Cup history</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Comparing teams requires searching scattered sources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No single tool combines historical Q&amp;A with transparent prediction</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6460077" y="1585440"/>
            <a:ext cx="5119307" cy="4266089"/>
          </a:xfrm>
          <a:prstGeom prst="roundRect">
            <a:avLst>
              <a:gd name="adj" fmla="val 4286"/>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6825741" y="1829217"/>
            <a:ext cx="4631754" cy="487553"/>
          </a:xfrm>
          <a:prstGeom prst="rect">
            <a:avLst/>
          </a:prstGeom>
          <a:noFill/>
          <a:ln/>
        </p:spPr>
        <p:txBody>
          <a:bodyPr wrap="square" lIns="0" tIns="0" rIns="0" bIns="0" rtlCol="0" anchor="ctr"/>
          <a:lstStyle/>
          <a:p>
            <a:r>
              <a:rPr lang="en-US" sz="1866" b="1" dirty="0">
                <a:solidFill>
                  <a:srgbClr val="D4A843"/>
                </a:solidFill>
                <a:latin typeface="Times New Roman" panose="02020603050405020304" pitchFamily="18" charset="0"/>
                <a:ea typeface="Calibri" pitchFamily="34" charset="-122"/>
                <a:cs typeface="Times New Roman" panose="02020603050405020304" pitchFamily="18" charset="0"/>
              </a:rPr>
              <a:t>Our Solution</a:t>
            </a:r>
            <a:endParaRPr lang="en-US" sz="1866" dirty="0">
              <a:latin typeface="Times New Roman" panose="02020603050405020304" pitchFamily="18" charset="0"/>
              <a:cs typeface="Times New Roman" panose="02020603050405020304" pitchFamily="18" charset="0"/>
            </a:endParaRPr>
          </a:p>
        </p:txBody>
      </p:sp>
      <p:sp>
        <p:nvSpPr>
          <p:cNvPr id="8" name="Text 6"/>
          <p:cNvSpPr/>
          <p:nvPr/>
        </p:nvSpPr>
        <p:spPr>
          <a:xfrm>
            <a:off x="6825741" y="2438658"/>
            <a:ext cx="4631754" cy="3047206"/>
          </a:xfrm>
          <a:prstGeom prst="rect">
            <a:avLst/>
          </a:prstGeom>
          <a:noFill/>
          <a:ln/>
        </p:spPr>
        <p:txBody>
          <a:bodyPr wrap="square" rtlCol="0" anchor="t"/>
          <a:lstStyle/>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Conversational AI answers any World Cup question via RAG</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Data-driven predictions with computed statistical factors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All numbers from code -- LLM never invents statistics</a:t>
            </a:r>
            <a:endParaRPr lang="en-US" sz="1600" dirty="0">
              <a:latin typeface="Times New Roman" panose="02020603050405020304" pitchFamily="18" charset="0"/>
              <a:cs typeface="Times New Roman" panose="02020603050405020304" pitchFamily="18" charset="0"/>
            </a:endParaRPr>
          </a:p>
          <a:p>
            <a:pPr marL="457086" indent="-457086">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Confidence and limitations stated with every response</a:t>
            </a:r>
            <a:endParaRPr lang="en-US"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C66E68D2-F146-CBBC-EC6C-52AEDC608965}"/>
              </a:ext>
            </a:extLst>
          </p:cNvPr>
          <p:cNvSpPr/>
          <p:nvPr/>
        </p:nvSpPr>
        <p:spPr>
          <a:xfrm>
            <a:off x="0" y="-588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ext 0"/>
          <p:cNvSpPr/>
          <p:nvPr/>
        </p:nvSpPr>
        <p:spPr>
          <a:xfrm>
            <a:off x="304720" y="131375"/>
            <a:ext cx="7531590" cy="731330"/>
          </a:xfrm>
          <a:prstGeom prst="rect">
            <a:avLst/>
          </a:prstGeom>
          <a:noFill/>
          <a:ln/>
        </p:spPr>
        <p:txBody>
          <a:bodyPr wrap="square" lIns="0" tIns="0" rIns="0" bIns="0" rtlCol="0" anchor="ctr"/>
          <a:lstStyle/>
          <a:p>
            <a:r>
              <a:rPr lang="en-US" sz="3732" b="1" dirty="0">
                <a:solidFill>
                  <a:schemeClr val="bg1"/>
                </a:solidFill>
                <a:latin typeface="Times New Roman" panose="02020603050405020304" pitchFamily="18" charset="0"/>
                <a:ea typeface="Georgia" pitchFamily="34" charset="-122"/>
                <a:cs typeface="Times New Roman" panose="02020603050405020304" pitchFamily="18" charset="0"/>
              </a:rPr>
              <a:t>The Problem We are Solving</a:t>
            </a:r>
            <a:endParaRPr lang="en-US" sz="3732"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071E555-5AD2-8098-D354-0109FF6E3FCA}"/>
              </a:ext>
            </a:extLst>
          </p:cNvPr>
          <p:cNvSpPr/>
          <p:nvPr/>
        </p:nvSpPr>
        <p:spPr>
          <a:xfrm>
            <a:off x="328986" y="1083782"/>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aphicFrame>
        <p:nvGraphicFramePr>
          <p:cNvPr id="4" name="Table 0"/>
          <p:cNvGraphicFramePr>
            <a:graphicFrameLocks noGrp="1"/>
          </p:cNvGraphicFramePr>
          <p:nvPr/>
        </p:nvGraphicFramePr>
        <p:xfrm>
          <a:off x="609441" y="1829217"/>
          <a:ext cx="10969943" cy="2133045"/>
        </p:xfrm>
        <a:graphic>
          <a:graphicData uri="http://schemas.openxmlformats.org/drawingml/2006/table">
            <a:tbl>
              <a:tblPr/>
              <a:tblGrid>
                <a:gridCol w="2681542">
                  <a:extLst>
                    <a:ext uri="{9D8B030D-6E8A-4147-A177-3AD203B41FA5}">
                      <a16:colId xmlns:a16="http://schemas.microsoft.com/office/drawing/2014/main" val="20000"/>
                    </a:ext>
                  </a:extLst>
                </a:gridCol>
                <a:gridCol w="1462659">
                  <a:extLst>
                    <a:ext uri="{9D8B030D-6E8A-4147-A177-3AD203B41FA5}">
                      <a16:colId xmlns:a16="http://schemas.microsoft.com/office/drawing/2014/main" val="20001"/>
                    </a:ext>
                  </a:extLst>
                </a:gridCol>
                <a:gridCol w="6825742">
                  <a:extLst>
                    <a:ext uri="{9D8B030D-6E8A-4147-A177-3AD203B41FA5}">
                      <a16:colId xmlns:a16="http://schemas.microsoft.com/office/drawing/2014/main" val="20002"/>
                    </a:ext>
                  </a:extLst>
                </a:gridCol>
              </a:tblGrid>
              <a:tr h="426609">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File</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600" b="1" dirty="0">
                          <a:solidFill>
                            <a:srgbClr val="D4A843"/>
                          </a:solidFill>
                          <a:latin typeface="Calibri" pitchFamily="34" charset="0"/>
                          <a:ea typeface="Calibri" pitchFamily="34" charset="-122"/>
                          <a:cs typeface="Calibri" pitchFamily="34" charset="-120"/>
                        </a:rPr>
                        <a:t>Description</a:t>
                      </a:r>
                      <a:endParaRPr lang="en-US" sz="16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0"/>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results.csv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49,071</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International match results (1872-2026)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1"/>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goalscorers.csv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47,555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Individual goal records with minute and type</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2"/>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shootouts.csv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665</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Penalty shootout outcomes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3"/>
                  </a:ext>
                </a:extLst>
              </a:tr>
              <a:tr h="426609">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former_names.csv</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36</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tc>
                  <a:txBody>
                    <a:bodyPr/>
                    <a:lstStyle/>
                    <a:p>
                      <a:pPr marL="0" indent="0">
                        <a:buNone/>
                      </a:pPr>
                      <a:r>
                        <a:rPr lang="en-US" sz="1500" dirty="0">
                          <a:solidFill>
                            <a:srgbClr val="FFFFFF"/>
                          </a:solidFill>
                          <a:latin typeface="Calibri" pitchFamily="34" charset="0"/>
                          <a:ea typeface="Calibri" pitchFamily="34" charset="-122"/>
                          <a:cs typeface="Calibri" pitchFamily="34" charset="-120"/>
                        </a:rPr>
                        <a:t>Historical team name mappings</a:t>
                      </a:r>
                      <a:endParaRPr lang="en-US" sz="1500" dirty="0">
                        <a:latin typeface="Calibri" charset="0"/>
                        <a:ea typeface="Calibri" charset="0"/>
                        <a:cs typeface="Calibri" charset="0"/>
                      </a:endParaRPr>
                    </a:p>
                  </a:txBody>
                  <a:tcPr marL="121888" marR="121888" marT="60944" marB="60944">
                    <a:lnL w="6350" cap="flat" cmpd="sng" algn="ctr">
                      <a:solidFill>
                        <a:srgbClr val="2A3F5F"/>
                      </a:solidFill>
                      <a:prstDash val="solid"/>
                      <a:round/>
                      <a:headEnd type="none" w="med" len="med"/>
                      <a:tailEnd type="none" w="med" len="med"/>
                    </a:lnL>
                    <a:lnR w="6350" cap="flat" cmpd="sng" algn="ctr">
                      <a:solidFill>
                        <a:srgbClr val="2A3F5F"/>
                      </a:solidFill>
                      <a:prstDash val="solid"/>
                      <a:round/>
                      <a:headEnd type="none" w="med" len="med"/>
                      <a:tailEnd type="none" w="med" len="med"/>
                    </a:lnR>
                    <a:lnT w="6350" cap="flat" cmpd="sng" algn="ctr">
                      <a:solidFill>
                        <a:srgbClr val="2A3F5F"/>
                      </a:solidFill>
                      <a:prstDash val="solid"/>
                      <a:round/>
                      <a:headEnd type="none" w="med" len="med"/>
                      <a:tailEnd type="none" w="med" len="med"/>
                    </a:lnT>
                    <a:lnB w="6350" cap="flat" cmpd="sng" algn="ctr">
                      <a:solidFill>
                        <a:srgbClr val="2A3F5F"/>
                      </a:solidFill>
                      <a:prstDash val="solid"/>
                      <a:round/>
                      <a:headEnd type="none" w="med" len="med"/>
                      <a:tailEnd type="none" w="med" len="med"/>
                    </a:lnB>
                    <a:solidFill>
                      <a:srgbClr val="1A2D4A"/>
                    </a:solidFill>
                  </a:tcPr>
                </a:tc>
                <a:extLst>
                  <a:ext uri="{0D108BD9-81ED-4DB2-BD59-A6C34878D82A}">
                    <a16:rowId xmlns:a16="http://schemas.microsoft.com/office/drawing/2014/main" val="10004"/>
                  </a:ext>
                </a:extLst>
              </a:tr>
            </a:tbl>
          </a:graphicData>
        </a:graphic>
      </p:graphicFrame>
      <p:sp>
        <p:nvSpPr>
          <p:cNvPr id="5" name="Shape 2"/>
          <p:cNvSpPr/>
          <p:nvPr/>
        </p:nvSpPr>
        <p:spPr>
          <a:xfrm>
            <a:off x="609441"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6" name="Text 3"/>
          <p:cNvSpPr/>
          <p:nvPr/>
        </p:nvSpPr>
        <p:spPr>
          <a:xfrm>
            <a:off x="853217"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Preprocessing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Zero nulls, zero duplicates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Date parsing, 36 team name mappings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Result and TotalGoals derived</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964 World Cup matches filtered</a:t>
            </a:r>
            <a:endParaRPr lang="en-US" sz="1733" dirty="0">
              <a:latin typeface="Times New Roman" panose="02020603050405020304" pitchFamily="18" charset="0"/>
              <a:cs typeface="Times New Roman" panose="02020603050405020304" pitchFamily="18" charset="0"/>
            </a:endParaRPr>
          </a:p>
        </p:txBody>
      </p:sp>
      <p:sp>
        <p:nvSpPr>
          <p:cNvPr id="7" name="Shape 4"/>
          <p:cNvSpPr/>
          <p:nvPr/>
        </p:nvSpPr>
        <p:spPr>
          <a:xfrm>
            <a:off x="6460077" y="4388870"/>
            <a:ext cx="5119307" cy="1828324"/>
          </a:xfrm>
          <a:prstGeom prst="roundRect">
            <a:avLst>
              <a:gd name="adj" fmla="val 6667"/>
            </a:avLst>
          </a:prstGeom>
          <a:solidFill>
            <a:srgbClr val="1A2D4A"/>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5"/>
          <p:cNvSpPr/>
          <p:nvPr/>
        </p:nvSpPr>
        <p:spPr>
          <a:xfrm>
            <a:off x="6703853" y="4510758"/>
            <a:ext cx="4631754" cy="1584547"/>
          </a:xfrm>
          <a:prstGeom prst="rect">
            <a:avLst/>
          </a:prstGeom>
          <a:noFill/>
          <a:ln/>
        </p:spPr>
        <p:txBody>
          <a:bodyPr wrap="square" rtlCol="0" anchor="t"/>
          <a:lstStyle/>
          <a:p>
            <a:r>
              <a:rPr lang="en-US" sz="1733" b="1" dirty="0">
                <a:solidFill>
                  <a:srgbClr val="D4A843"/>
                </a:solidFill>
                <a:latin typeface="Times New Roman" panose="02020603050405020304" pitchFamily="18" charset="0"/>
                <a:ea typeface="Calibri" pitchFamily="34" charset="-122"/>
                <a:cs typeface="Times New Roman" panose="02020603050405020304" pitchFamily="18" charset="0"/>
              </a:rPr>
              <a:t>Key Advantage
</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Covers ALL international matches.</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Enables meaningful recent form</a:t>
            </a:r>
            <a:endParaRPr lang="en-US" sz="1733" dirty="0">
              <a:latin typeface="Times New Roman" panose="02020603050405020304" pitchFamily="18" charset="0"/>
              <a:cs typeface="Times New Roman" panose="02020603050405020304" pitchFamily="18" charset="0"/>
            </a:endParaRPr>
          </a:p>
          <a:p>
            <a:r>
              <a:rPr lang="en-US" sz="1466" dirty="0">
                <a:solidFill>
                  <a:srgbClr val="FFFFFF"/>
                </a:solidFill>
                <a:latin typeface="Times New Roman" panose="02020603050405020304" pitchFamily="18" charset="0"/>
                <a:ea typeface="Calibri" pitchFamily="34" charset="-122"/>
                <a:cs typeface="Times New Roman" panose="02020603050405020304" pitchFamily="18" charset="0"/>
              </a:rPr>
              <a:t>from actual recent matches.</a:t>
            </a:r>
            <a:endParaRPr lang="en-US" sz="1733"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FB042A6-A43E-8000-7D01-1F1258BC6EF9}"/>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578B59B-EEA0-3DB0-70D4-22A13CE2A21D}"/>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Our Data</a:t>
            </a:r>
          </a:p>
        </p:txBody>
      </p:sp>
      <p:sp>
        <p:nvSpPr>
          <p:cNvPr id="2" name="TextBox 1">
            <a:extLst>
              <a:ext uri="{FF2B5EF4-FFF2-40B4-BE49-F238E27FC236}">
                <a16:creationId xmlns:a16="http://schemas.microsoft.com/office/drawing/2014/main" id="{FF5D122F-4080-EA3D-287A-482347A4180C}"/>
              </a:ext>
            </a:extLst>
          </p:cNvPr>
          <p:cNvSpPr txBox="1"/>
          <p:nvPr/>
        </p:nvSpPr>
        <p:spPr>
          <a:xfrm>
            <a:off x="609441" y="1307787"/>
            <a:ext cx="10864804" cy="369332"/>
          </a:xfrm>
          <a:prstGeom prst="rect">
            <a:avLst/>
          </a:prstGeom>
          <a:noFill/>
        </p:spPr>
        <p:txBody>
          <a:bodyPr wrap="square" rtlCol="0">
            <a:spAutoFit/>
          </a:bodyPr>
          <a:lstStyle/>
          <a:p>
            <a:r>
              <a:rPr lang="en-US" dirty="0">
                <a:hlinkClick r:id="rId3"/>
              </a:rPr>
              <a:t>Link: https://www.kaggle.com/datasets/martj42/international-football-results-from-1872-to-2017</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Data Pipeline</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p:cNvSpPr txBox="1"/>
          <p:nvPr/>
        </p:nvSpPr>
        <p:spPr>
          <a:xfrm>
            <a:off x="2468879" y="2258568"/>
            <a:ext cx="822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Rows</a:t>
            </a:r>
          </a:p>
        </p:txBody>
      </p:sp>
      <p:sp>
        <p:nvSpPr>
          <p:cNvPr id="11" name="TextBox 10"/>
          <p:cNvSpPr txBox="1"/>
          <p:nvPr/>
        </p:nvSpPr>
        <p:spPr>
          <a:xfrm>
            <a:off x="3474720" y="2258568"/>
            <a:ext cx="3108960" cy="261610"/>
          </a:xfrm>
          <a:prstGeom prst="rect">
            <a:avLst/>
          </a:prstGeom>
          <a:noFill/>
        </p:spPr>
        <p:txBody>
          <a:bodyPr wrap="square">
            <a:spAutoFit/>
          </a:bodyPr>
          <a:lstStyle/>
          <a:p>
            <a:pPr algn="l"/>
            <a:r>
              <a:rPr sz="1100" b="1" i="0">
                <a:solidFill>
                  <a:srgbClr val="FFFFFF"/>
                </a:solidFill>
                <a:latin typeface="Times New Roman" panose="02020603050405020304" pitchFamily="18" charset="0"/>
                <a:cs typeface="Times New Roman" panose="02020603050405020304" pitchFamily="18" charset="0"/>
              </a:rPr>
              <a:t>What it contains</a:t>
            </a:r>
          </a:p>
        </p:txBody>
      </p:sp>
      <p:sp>
        <p:nvSpPr>
          <p:cNvPr id="31" name="Rectangle 30"/>
          <p:cNvSpPr/>
          <p:nvPr/>
        </p:nvSpPr>
        <p:spPr>
          <a:xfrm>
            <a:off x="218661" y="1143000"/>
            <a:ext cx="11622819" cy="5440680"/>
          </a:xfrm>
          <a:prstGeom prst="rect">
            <a:avLst/>
          </a:prstGeom>
          <a:solidFill>
            <a:srgbClr val="FFFFFF"/>
          </a:solidFill>
          <a:ln w="6350">
            <a:solidFill>
              <a:srgbClr val="CCD6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TextBox 31"/>
          <p:cNvSpPr txBox="1"/>
          <p:nvPr/>
        </p:nvSpPr>
        <p:spPr>
          <a:xfrm>
            <a:off x="365760" y="1188720"/>
            <a:ext cx="11384280" cy="338554"/>
          </a:xfrm>
          <a:prstGeom prst="rect">
            <a:avLst/>
          </a:prstGeom>
          <a:noFill/>
        </p:spPr>
        <p:txBody>
          <a:bodyPr wrap="square">
            <a:spAutoFit/>
          </a:bodyPr>
          <a:lstStyle/>
          <a:p>
            <a:pPr algn="l"/>
            <a:r>
              <a:rPr sz="1600" b="1" i="0" dirty="0">
                <a:solidFill>
                  <a:srgbClr val="0D2B55"/>
                </a:solidFill>
                <a:latin typeface="Times New Roman" panose="02020603050405020304" pitchFamily="18" charset="0"/>
                <a:cs typeface="Times New Roman" panose="02020603050405020304" pitchFamily="18" charset="0"/>
              </a:rPr>
              <a:t>6-Stage Data Pipeline</a:t>
            </a:r>
          </a:p>
        </p:txBody>
      </p:sp>
      <p:sp>
        <p:nvSpPr>
          <p:cNvPr id="33" name="Rectangle 32"/>
          <p:cNvSpPr/>
          <p:nvPr/>
        </p:nvSpPr>
        <p:spPr>
          <a:xfrm flipV="1">
            <a:off x="347868" y="1609343"/>
            <a:ext cx="11257059" cy="45719"/>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64" name="Group 63">
            <a:extLst>
              <a:ext uri="{FF2B5EF4-FFF2-40B4-BE49-F238E27FC236}">
                <a16:creationId xmlns:a16="http://schemas.microsoft.com/office/drawing/2014/main" id="{640BB66F-9317-4F6C-579E-994C7E6C2C64}"/>
              </a:ext>
            </a:extLst>
          </p:cNvPr>
          <p:cNvGrpSpPr/>
          <p:nvPr/>
        </p:nvGrpSpPr>
        <p:grpSpPr>
          <a:xfrm>
            <a:off x="374109" y="1691640"/>
            <a:ext cx="11257059" cy="4484132"/>
            <a:chOff x="6995160" y="1691640"/>
            <a:chExt cx="4636008" cy="4484132"/>
          </a:xfrm>
        </p:grpSpPr>
        <p:sp>
          <p:nvSpPr>
            <p:cNvPr id="34" name="Rectangle 33"/>
            <p:cNvSpPr/>
            <p:nvPr/>
          </p:nvSpPr>
          <p:spPr>
            <a:xfrm>
              <a:off x="6995160" y="1691640"/>
              <a:ext cx="502920" cy="62179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TextBox 34"/>
            <p:cNvSpPr txBox="1"/>
            <p:nvPr/>
          </p:nvSpPr>
          <p:spPr>
            <a:xfrm>
              <a:off x="6995160" y="178308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1</a:t>
              </a:r>
            </a:p>
          </p:txBody>
        </p:sp>
        <p:sp>
          <p:nvSpPr>
            <p:cNvPr id="36" name="TextBox 35"/>
            <p:cNvSpPr txBox="1"/>
            <p:nvPr/>
          </p:nvSpPr>
          <p:spPr>
            <a:xfrm>
              <a:off x="7562088" y="1728216"/>
              <a:ext cx="4069080" cy="369332"/>
            </a:xfrm>
            <a:prstGeom prst="rect">
              <a:avLst/>
            </a:prstGeom>
            <a:noFill/>
          </p:spPr>
          <p:txBody>
            <a:bodyPr wrap="square">
              <a:spAutoFit/>
            </a:bodyPr>
            <a:lstStyle/>
            <a:p>
              <a:pPr algn="l"/>
              <a:r>
                <a:rPr b="1" i="0" dirty="0" err="1">
                  <a:solidFill>
                    <a:srgbClr val="0D2B55"/>
                  </a:solidFill>
                  <a:latin typeface="Times New Roman" panose="02020603050405020304" pitchFamily="18" charset="0"/>
                  <a:cs typeface="Times New Roman" panose="02020603050405020304" pitchFamily="18" charset="0"/>
                </a:rPr>
                <a:t>dataset_discovery_tool</a:t>
              </a:r>
              <a:endParaRPr b="1" i="0" dirty="0">
                <a:solidFill>
                  <a:srgbClr val="0D2B55"/>
                </a:solidFill>
                <a:latin typeface="Times New Roman" panose="02020603050405020304" pitchFamily="18" charset="0"/>
                <a:cs typeface="Times New Roman" panose="02020603050405020304" pitchFamily="18" charset="0"/>
              </a:endParaRPr>
            </a:p>
          </p:txBody>
        </p:sp>
        <p:sp>
          <p:nvSpPr>
            <p:cNvPr id="37" name="TextBox 36"/>
            <p:cNvSpPr txBox="1"/>
            <p:nvPr/>
          </p:nvSpPr>
          <p:spPr>
            <a:xfrm>
              <a:off x="7562088" y="201168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Catalogs &amp; validates all CSV files</a:t>
              </a:r>
            </a:p>
          </p:txBody>
        </p:sp>
        <p:sp>
          <p:nvSpPr>
            <p:cNvPr id="38" name="TextBox 37"/>
            <p:cNvSpPr txBox="1"/>
            <p:nvPr/>
          </p:nvSpPr>
          <p:spPr>
            <a:xfrm>
              <a:off x="7196328" y="2258568"/>
              <a:ext cx="274320" cy="369332"/>
            </a:xfrm>
            <a:prstGeom prst="rect">
              <a:avLst/>
            </a:prstGeom>
            <a:noFill/>
          </p:spPr>
          <p:txBody>
            <a:bodyPr wrap="square">
              <a:spAutoFit/>
            </a:bodyPr>
            <a:lstStyle/>
            <a:p>
              <a:pPr algn="ctr"/>
              <a:r>
                <a:rPr b="0" i="0">
                  <a:solidFill>
                    <a:srgbClr val="007A33"/>
                  </a:solidFill>
                  <a:latin typeface="Times New Roman" panose="02020603050405020304" pitchFamily="18" charset="0"/>
                  <a:cs typeface="Times New Roman" panose="02020603050405020304" pitchFamily="18" charset="0"/>
                </a:rPr>
                <a:t>↓</a:t>
              </a:r>
            </a:p>
          </p:txBody>
        </p:sp>
        <p:sp>
          <p:nvSpPr>
            <p:cNvPr id="39" name="Rectangle 38"/>
            <p:cNvSpPr/>
            <p:nvPr/>
          </p:nvSpPr>
          <p:spPr>
            <a:xfrm>
              <a:off x="6995160" y="2450592"/>
              <a:ext cx="502920" cy="62179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0" name="TextBox 39"/>
            <p:cNvSpPr txBox="1"/>
            <p:nvPr/>
          </p:nvSpPr>
          <p:spPr>
            <a:xfrm>
              <a:off x="6995160" y="2542032"/>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2</a:t>
              </a:r>
            </a:p>
          </p:txBody>
        </p:sp>
        <p:sp>
          <p:nvSpPr>
            <p:cNvPr id="41" name="TextBox 40"/>
            <p:cNvSpPr txBox="1"/>
            <p:nvPr/>
          </p:nvSpPr>
          <p:spPr>
            <a:xfrm>
              <a:off x="7562088" y="2487168"/>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data_ingestion_tool</a:t>
              </a:r>
            </a:p>
          </p:txBody>
        </p:sp>
        <p:sp>
          <p:nvSpPr>
            <p:cNvPr id="42" name="TextBox 41"/>
            <p:cNvSpPr txBox="1"/>
            <p:nvPr/>
          </p:nvSpPr>
          <p:spPr>
            <a:xfrm>
              <a:off x="7562088" y="2770632"/>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Loads all 4 CSVs into DataFrames</a:t>
              </a:r>
            </a:p>
          </p:txBody>
        </p:sp>
        <p:sp>
          <p:nvSpPr>
            <p:cNvPr id="43" name="TextBox 42"/>
            <p:cNvSpPr txBox="1"/>
            <p:nvPr/>
          </p:nvSpPr>
          <p:spPr>
            <a:xfrm>
              <a:off x="7196328" y="3017520"/>
              <a:ext cx="274320" cy="369332"/>
            </a:xfrm>
            <a:prstGeom prst="rect">
              <a:avLst/>
            </a:prstGeom>
            <a:noFill/>
          </p:spPr>
          <p:txBody>
            <a:bodyPr wrap="square">
              <a:spAutoFit/>
            </a:bodyPr>
            <a:lstStyle/>
            <a:p>
              <a:pPr algn="ctr"/>
              <a:r>
                <a:rPr b="0" i="0">
                  <a:solidFill>
                    <a:srgbClr val="007A87"/>
                  </a:solidFill>
                  <a:latin typeface="Times New Roman" panose="02020603050405020304" pitchFamily="18" charset="0"/>
                  <a:cs typeface="Times New Roman" panose="02020603050405020304" pitchFamily="18" charset="0"/>
                </a:rPr>
                <a:t>↓</a:t>
              </a:r>
            </a:p>
          </p:txBody>
        </p:sp>
        <p:sp>
          <p:nvSpPr>
            <p:cNvPr id="44" name="Rectangle 43"/>
            <p:cNvSpPr/>
            <p:nvPr/>
          </p:nvSpPr>
          <p:spPr>
            <a:xfrm>
              <a:off x="6995160" y="3209544"/>
              <a:ext cx="502920" cy="621792"/>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5" name="TextBox 44"/>
            <p:cNvSpPr txBox="1"/>
            <p:nvPr/>
          </p:nvSpPr>
          <p:spPr>
            <a:xfrm>
              <a:off x="6995160" y="3300984"/>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3</a:t>
              </a:r>
            </a:p>
          </p:txBody>
        </p:sp>
        <p:sp>
          <p:nvSpPr>
            <p:cNvPr id="46" name="TextBox 45"/>
            <p:cNvSpPr txBox="1"/>
            <p:nvPr/>
          </p:nvSpPr>
          <p:spPr>
            <a:xfrm>
              <a:off x="7562088" y="3246120"/>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data_validation_tool</a:t>
              </a:r>
            </a:p>
          </p:txBody>
        </p:sp>
        <p:sp>
          <p:nvSpPr>
            <p:cNvPr id="47" name="TextBox 46"/>
            <p:cNvSpPr txBox="1"/>
            <p:nvPr/>
          </p:nvSpPr>
          <p:spPr>
            <a:xfrm>
              <a:off x="7562088" y="3529584"/>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Zero nulls, zero duplicates confirmed</a:t>
              </a:r>
            </a:p>
          </p:txBody>
        </p:sp>
        <p:sp>
          <p:nvSpPr>
            <p:cNvPr id="48" name="TextBox 47"/>
            <p:cNvSpPr txBox="1"/>
            <p:nvPr/>
          </p:nvSpPr>
          <p:spPr>
            <a:xfrm>
              <a:off x="7196328" y="3776472"/>
              <a:ext cx="274320" cy="369332"/>
            </a:xfrm>
            <a:prstGeom prst="rect">
              <a:avLst/>
            </a:prstGeom>
            <a:noFill/>
          </p:spPr>
          <p:txBody>
            <a:bodyPr wrap="square">
              <a:spAutoFit/>
            </a:bodyPr>
            <a:lstStyle/>
            <a:p>
              <a:pPr algn="ctr"/>
              <a:r>
                <a:rPr b="0" i="0">
                  <a:solidFill>
                    <a:srgbClr val="1A4A8A"/>
                  </a:solidFill>
                  <a:latin typeface="Times New Roman" panose="02020603050405020304" pitchFamily="18" charset="0"/>
                  <a:cs typeface="Times New Roman" panose="02020603050405020304" pitchFamily="18" charset="0"/>
                </a:rPr>
                <a:t>↓</a:t>
              </a:r>
            </a:p>
          </p:txBody>
        </p:sp>
        <p:sp>
          <p:nvSpPr>
            <p:cNvPr id="49" name="Rectangle 48"/>
            <p:cNvSpPr/>
            <p:nvPr/>
          </p:nvSpPr>
          <p:spPr>
            <a:xfrm>
              <a:off x="6995160" y="3968496"/>
              <a:ext cx="502920" cy="621792"/>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0" name="TextBox 49"/>
            <p:cNvSpPr txBox="1"/>
            <p:nvPr/>
          </p:nvSpPr>
          <p:spPr>
            <a:xfrm>
              <a:off x="6995160" y="4059935"/>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4</a:t>
              </a:r>
            </a:p>
          </p:txBody>
        </p:sp>
        <p:sp>
          <p:nvSpPr>
            <p:cNvPr id="51" name="TextBox 50"/>
            <p:cNvSpPr txBox="1"/>
            <p:nvPr/>
          </p:nvSpPr>
          <p:spPr>
            <a:xfrm>
              <a:off x="7562088" y="4005072"/>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preprocessing_tool</a:t>
              </a:r>
            </a:p>
          </p:txBody>
        </p:sp>
        <p:sp>
          <p:nvSpPr>
            <p:cNvPr id="52" name="TextBox 51"/>
            <p:cNvSpPr txBox="1"/>
            <p:nvPr/>
          </p:nvSpPr>
          <p:spPr>
            <a:xfrm>
              <a:off x="7562088" y="4288536"/>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Date parse, name normalization, WC filter</a:t>
              </a:r>
            </a:p>
          </p:txBody>
        </p:sp>
        <p:sp>
          <p:nvSpPr>
            <p:cNvPr id="53" name="TextBox 52"/>
            <p:cNvSpPr txBox="1"/>
            <p:nvPr/>
          </p:nvSpPr>
          <p:spPr>
            <a:xfrm>
              <a:off x="7196328" y="4535424"/>
              <a:ext cx="274320" cy="369332"/>
            </a:xfrm>
            <a:prstGeom prst="rect">
              <a:avLst/>
            </a:prstGeom>
            <a:noFill/>
          </p:spPr>
          <p:txBody>
            <a:bodyPr wrap="square">
              <a:spAutoFit/>
            </a:bodyPr>
            <a:lstStyle/>
            <a:p>
              <a:pPr algn="ctr"/>
              <a:r>
                <a:rPr b="0" i="0">
                  <a:solidFill>
                    <a:srgbClr val="0D2B55"/>
                  </a:solidFill>
                  <a:latin typeface="Times New Roman" panose="02020603050405020304" pitchFamily="18" charset="0"/>
                  <a:cs typeface="Times New Roman" panose="02020603050405020304" pitchFamily="18" charset="0"/>
                </a:rPr>
                <a:t>↓</a:t>
              </a:r>
            </a:p>
          </p:txBody>
        </p:sp>
        <p:sp>
          <p:nvSpPr>
            <p:cNvPr id="54" name="Rectangle 53"/>
            <p:cNvSpPr/>
            <p:nvPr/>
          </p:nvSpPr>
          <p:spPr>
            <a:xfrm>
              <a:off x="6995160" y="4727448"/>
              <a:ext cx="502920" cy="621792"/>
            </a:xfrm>
            <a:prstGeom prst="rect">
              <a:avLst/>
            </a:prstGeom>
            <a:solidFill>
              <a:srgbClr val="5A2D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TextBox 54"/>
            <p:cNvSpPr txBox="1"/>
            <p:nvPr/>
          </p:nvSpPr>
          <p:spPr>
            <a:xfrm>
              <a:off x="6995160" y="4818888"/>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5</a:t>
              </a:r>
            </a:p>
          </p:txBody>
        </p:sp>
        <p:sp>
          <p:nvSpPr>
            <p:cNvPr id="56" name="TextBox 55"/>
            <p:cNvSpPr txBox="1"/>
            <p:nvPr/>
          </p:nvSpPr>
          <p:spPr>
            <a:xfrm>
              <a:off x="7562088" y="4764024"/>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eda_visualization_tool</a:t>
              </a:r>
            </a:p>
          </p:txBody>
        </p:sp>
        <p:sp>
          <p:nvSpPr>
            <p:cNvPr id="57" name="TextBox 56"/>
            <p:cNvSpPr txBox="1"/>
            <p:nvPr/>
          </p:nvSpPr>
          <p:spPr>
            <a:xfrm>
              <a:off x="7562088" y="5047488"/>
              <a:ext cx="4069080" cy="369332"/>
            </a:xfrm>
            <a:prstGeom prst="rect">
              <a:avLst/>
            </a:prstGeom>
            <a:noFill/>
          </p:spPr>
          <p:txBody>
            <a:bodyPr wrap="square">
              <a:spAutoFit/>
            </a:bodyPr>
            <a:lstStyle/>
            <a:p>
              <a:pPr algn="l"/>
              <a:r>
                <a:rPr b="0" i="0">
                  <a:solidFill>
                    <a:srgbClr val="445566"/>
                  </a:solidFill>
                  <a:latin typeface="Times New Roman" panose="02020603050405020304" pitchFamily="18" charset="0"/>
                  <a:cs typeface="Times New Roman" panose="02020603050405020304" pitchFamily="18" charset="0"/>
                </a:rPr>
                <a:t>10+ EDA charts generated</a:t>
              </a:r>
            </a:p>
          </p:txBody>
        </p:sp>
        <p:sp>
          <p:nvSpPr>
            <p:cNvPr id="58" name="TextBox 57"/>
            <p:cNvSpPr txBox="1"/>
            <p:nvPr/>
          </p:nvSpPr>
          <p:spPr>
            <a:xfrm>
              <a:off x="7196328" y="5294376"/>
              <a:ext cx="274320" cy="369332"/>
            </a:xfrm>
            <a:prstGeom prst="rect">
              <a:avLst/>
            </a:prstGeom>
            <a:noFill/>
          </p:spPr>
          <p:txBody>
            <a:bodyPr wrap="square">
              <a:spAutoFit/>
            </a:bodyPr>
            <a:lstStyle/>
            <a:p>
              <a:pPr algn="ctr"/>
              <a:r>
                <a:rPr b="0" i="0">
                  <a:solidFill>
                    <a:srgbClr val="5A2D82"/>
                  </a:solidFill>
                  <a:latin typeface="Times New Roman" panose="02020603050405020304" pitchFamily="18" charset="0"/>
                  <a:cs typeface="Times New Roman" panose="02020603050405020304" pitchFamily="18" charset="0"/>
                </a:rPr>
                <a:t>↓</a:t>
              </a:r>
            </a:p>
          </p:txBody>
        </p:sp>
        <p:sp>
          <p:nvSpPr>
            <p:cNvPr id="59" name="Rectangle 58"/>
            <p:cNvSpPr/>
            <p:nvPr/>
          </p:nvSpPr>
          <p:spPr>
            <a:xfrm>
              <a:off x="6995160" y="5486400"/>
              <a:ext cx="502920" cy="621792"/>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0" name="TextBox 59"/>
            <p:cNvSpPr txBox="1"/>
            <p:nvPr/>
          </p:nvSpPr>
          <p:spPr>
            <a:xfrm>
              <a:off x="6995160" y="5577840"/>
              <a:ext cx="502920" cy="369332"/>
            </a:xfrm>
            <a:prstGeom prst="rect">
              <a:avLst/>
            </a:prstGeom>
            <a:noFill/>
          </p:spPr>
          <p:txBody>
            <a:bodyPr wrap="square">
              <a:spAutoFit/>
            </a:bodyPr>
            <a:lstStyle/>
            <a:p>
              <a:pPr algn="ctr"/>
              <a:r>
                <a:rPr b="1" i="0">
                  <a:solidFill>
                    <a:srgbClr val="FFFFFF"/>
                  </a:solidFill>
                  <a:latin typeface="Times New Roman" panose="02020603050405020304" pitchFamily="18" charset="0"/>
                  <a:cs typeface="Times New Roman" panose="02020603050405020304" pitchFamily="18" charset="0"/>
                </a:rPr>
                <a:t>6</a:t>
              </a:r>
            </a:p>
          </p:txBody>
        </p:sp>
        <p:sp>
          <p:nvSpPr>
            <p:cNvPr id="61" name="TextBox 60"/>
            <p:cNvSpPr txBox="1"/>
            <p:nvPr/>
          </p:nvSpPr>
          <p:spPr>
            <a:xfrm>
              <a:off x="7562088" y="5522976"/>
              <a:ext cx="4069080" cy="369332"/>
            </a:xfrm>
            <a:prstGeom prst="rect">
              <a:avLst/>
            </a:prstGeom>
            <a:noFill/>
          </p:spPr>
          <p:txBody>
            <a:bodyPr wrap="square">
              <a:spAutoFit/>
            </a:bodyPr>
            <a:lstStyle/>
            <a:p>
              <a:pPr algn="l"/>
              <a:r>
                <a:rPr b="1" i="0">
                  <a:solidFill>
                    <a:srgbClr val="0D2B55"/>
                  </a:solidFill>
                  <a:latin typeface="Times New Roman" panose="02020603050405020304" pitchFamily="18" charset="0"/>
                  <a:cs typeface="Times New Roman" panose="02020603050405020304" pitchFamily="18" charset="0"/>
                </a:rPr>
                <a:t>vector_store_builder</a:t>
              </a:r>
            </a:p>
          </p:txBody>
        </p:sp>
        <p:sp>
          <p:nvSpPr>
            <p:cNvPr id="62" name="TextBox 61"/>
            <p:cNvSpPr txBox="1"/>
            <p:nvPr/>
          </p:nvSpPr>
          <p:spPr>
            <a:xfrm>
              <a:off x="7562088" y="5806440"/>
              <a:ext cx="4069080" cy="369332"/>
            </a:xfrm>
            <a:prstGeom prst="rect">
              <a:avLst/>
            </a:prstGeom>
            <a:noFill/>
          </p:spPr>
          <p:txBody>
            <a:bodyPr wrap="square">
              <a:spAutoFit/>
            </a:bodyPr>
            <a:lstStyle/>
            <a:p>
              <a:pPr algn="l"/>
              <a:r>
                <a:rPr b="0" i="0" dirty="0">
                  <a:solidFill>
                    <a:srgbClr val="445566"/>
                  </a:solidFill>
                  <a:latin typeface="Times New Roman" panose="02020603050405020304" pitchFamily="18" charset="0"/>
                  <a:cs typeface="Times New Roman" panose="02020603050405020304" pitchFamily="18" charset="0"/>
                </a:rPr>
                <a:t>FAISS index with OpenAI embeddings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33E1-10E4-7149-090B-A706049264D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C0C0F-8AB6-060F-B781-5C1682ADB8F6}"/>
              </a:ext>
            </a:extLst>
          </p:cNvPr>
          <p:cNvSpPr/>
          <p:nvPr/>
        </p:nvSpPr>
        <p:spPr>
          <a:xfrm>
            <a:off x="0" y="0"/>
            <a:ext cx="12188952"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B851A95-81DB-EE76-E336-2D9E42A592BE}"/>
              </a:ext>
            </a:extLst>
          </p:cNvPr>
          <p:cNvSpPr txBox="1"/>
          <p:nvPr/>
        </p:nvSpPr>
        <p:spPr>
          <a:xfrm>
            <a:off x="365760" y="164592"/>
            <a:ext cx="10972800" cy="553998"/>
          </a:xfrm>
          <a:prstGeom prst="rect">
            <a:avLst/>
          </a:prstGeom>
          <a:noFill/>
        </p:spPr>
        <p:txBody>
          <a:bodyPr wrap="square">
            <a:spAutoFit/>
          </a:bodyPr>
          <a:lstStyle/>
          <a:p>
            <a:pPr algn="l"/>
            <a:r>
              <a:rPr lang="en-IN" sz="3000" b="1" dirty="0">
                <a:solidFill>
                  <a:srgbClr val="FFFFFF"/>
                </a:solidFill>
                <a:latin typeface="Times New Roman" panose="02020603050405020304" pitchFamily="18" charset="0"/>
                <a:cs typeface="Times New Roman" panose="02020603050405020304" pitchFamily="18" charset="0"/>
              </a:rPr>
              <a:t>System</a:t>
            </a:r>
            <a:r>
              <a:rPr lang="en-IN" sz="3000" b="1" i="0" dirty="0">
                <a:solidFill>
                  <a:srgbClr val="FFFFFF"/>
                </a:solidFill>
                <a:latin typeface="Times New Roman" panose="02020603050405020304" pitchFamily="18" charset="0"/>
                <a:cs typeface="Times New Roman" panose="02020603050405020304" pitchFamily="18" charset="0"/>
              </a:rPr>
              <a:t> </a:t>
            </a:r>
            <a:r>
              <a:rPr lang="en-IN" sz="3000" b="1" dirty="0">
                <a:solidFill>
                  <a:srgbClr val="FFFFFF"/>
                </a:solidFill>
                <a:latin typeface="Times New Roman" panose="02020603050405020304" pitchFamily="18" charset="0"/>
                <a:cs typeface="Times New Roman" panose="02020603050405020304" pitchFamily="18" charset="0"/>
              </a:rPr>
              <a:t>Architecture</a:t>
            </a:r>
            <a:endParaRPr lang="en-IN" sz="3000" b="1" i="0" dirty="0">
              <a:solidFill>
                <a:srgbClr val="FFFFFF"/>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4A18BD0-995A-1364-C522-A227C510D4D6}"/>
              </a:ext>
            </a:extLst>
          </p:cNvPr>
          <p:cNvPicPr>
            <a:picLocks noChangeAspect="1"/>
          </p:cNvPicPr>
          <p:nvPr/>
        </p:nvPicPr>
        <p:blipFill>
          <a:blip r:embed="rId3"/>
          <a:srcRect l="1378" t="2779" r="2238" b="3873"/>
          <a:stretch>
            <a:fillRect/>
          </a:stretch>
        </p:blipFill>
        <p:spPr>
          <a:xfrm>
            <a:off x="974257" y="1112136"/>
            <a:ext cx="10188324" cy="5581272"/>
          </a:xfrm>
          <a:prstGeom prst="rect">
            <a:avLst/>
          </a:prstGeom>
        </p:spPr>
      </p:pic>
    </p:spTree>
    <p:extLst>
      <p:ext uri="{BB962C8B-B14F-4D97-AF65-F5344CB8AC3E}">
        <p14:creationId xmlns:p14="http://schemas.microsoft.com/office/powerpoint/2010/main" val="2899063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5" name="Image 0" descr="preencoded.png">
            <a:extLst>
              <a:ext uri="{FF2B5EF4-FFF2-40B4-BE49-F238E27FC236}">
                <a16:creationId xmlns:a16="http://schemas.microsoft.com/office/drawing/2014/main" id="{E0716BB4-4CFC-569C-AA29-1BA20A17F4E8}"/>
              </a:ext>
            </a:extLst>
          </p:cNvPr>
          <p:cNvPicPr>
            <a:picLocks noChangeAspect="1"/>
          </p:cNvPicPr>
          <p:nvPr/>
        </p:nvPicPr>
        <p:blipFill>
          <a:blip r:embed="rId3"/>
          <a:stretch>
            <a:fillRect/>
          </a:stretch>
        </p:blipFill>
        <p:spPr>
          <a:xfrm>
            <a:off x="365760" y="1142487"/>
            <a:ext cx="5551213" cy="2374805"/>
          </a:xfrm>
          <a:prstGeom prst="rect">
            <a:avLst/>
          </a:prstGeom>
        </p:spPr>
      </p:pic>
      <p:pic>
        <p:nvPicPr>
          <p:cNvPr id="66" name="Image 1" descr="preencoded.png">
            <a:extLst>
              <a:ext uri="{FF2B5EF4-FFF2-40B4-BE49-F238E27FC236}">
                <a16:creationId xmlns:a16="http://schemas.microsoft.com/office/drawing/2014/main" id="{3AC36093-F8F8-AA5A-9A02-31CBE6923E96}"/>
              </a:ext>
            </a:extLst>
          </p:cNvPr>
          <p:cNvPicPr>
            <a:picLocks noChangeAspect="1"/>
          </p:cNvPicPr>
          <p:nvPr/>
        </p:nvPicPr>
        <p:blipFill>
          <a:blip r:embed="rId4"/>
          <a:stretch>
            <a:fillRect/>
          </a:stretch>
        </p:blipFill>
        <p:spPr>
          <a:xfrm>
            <a:off x="6061944" y="1118310"/>
            <a:ext cx="5486277" cy="2423159"/>
          </a:xfrm>
          <a:prstGeom prst="rect">
            <a:avLst/>
          </a:prstGeom>
        </p:spPr>
      </p:pic>
      <p:pic>
        <p:nvPicPr>
          <p:cNvPr id="67" name="Image 2" descr="preencoded.png">
            <a:extLst>
              <a:ext uri="{FF2B5EF4-FFF2-40B4-BE49-F238E27FC236}">
                <a16:creationId xmlns:a16="http://schemas.microsoft.com/office/drawing/2014/main" id="{AD10A214-CCFC-C439-CADC-1A347D4EB30F}"/>
              </a:ext>
            </a:extLst>
          </p:cNvPr>
          <p:cNvPicPr>
            <a:picLocks noChangeAspect="1"/>
          </p:cNvPicPr>
          <p:nvPr/>
        </p:nvPicPr>
        <p:blipFill>
          <a:blip r:embed="rId5"/>
          <a:stretch>
            <a:fillRect/>
          </a:stretch>
        </p:blipFill>
        <p:spPr>
          <a:xfrm>
            <a:off x="365760" y="3611880"/>
            <a:ext cx="5551213" cy="2896285"/>
          </a:xfrm>
          <a:prstGeom prst="rect">
            <a:avLst/>
          </a:prstGeom>
        </p:spPr>
      </p:pic>
      <p:pic>
        <p:nvPicPr>
          <p:cNvPr id="68" name="Image 3" descr="preencoded.png">
            <a:extLst>
              <a:ext uri="{FF2B5EF4-FFF2-40B4-BE49-F238E27FC236}">
                <a16:creationId xmlns:a16="http://schemas.microsoft.com/office/drawing/2014/main" id="{9387CB72-CE58-C8D8-4606-83143BB2F582}"/>
              </a:ext>
            </a:extLst>
          </p:cNvPr>
          <p:cNvPicPr>
            <a:picLocks noChangeAspect="1"/>
          </p:cNvPicPr>
          <p:nvPr/>
        </p:nvPicPr>
        <p:blipFill>
          <a:blip r:embed="rId6"/>
          <a:stretch>
            <a:fillRect/>
          </a:stretch>
        </p:blipFill>
        <p:spPr>
          <a:xfrm>
            <a:off x="6029476" y="3611879"/>
            <a:ext cx="5551213" cy="28962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4678C-BDD0-E8B2-70B7-A64EE070C5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86D82CE-4DA7-CA81-27D0-FD4BF1FC0030}"/>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980D384-BFFC-876A-C076-09977049FA26}"/>
              </a:ext>
            </a:extLst>
          </p:cNvPr>
          <p:cNvSpPr txBox="1"/>
          <p:nvPr/>
        </p:nvSpPr>
        <p:spPr>
          <a:xfrm>
            <a:off x="365760" y="164592"/>
            <a:ext cx="10972800" cy="553998"/>
          </a:xfrm>
          <a:prstGeom prst="rect">
            <a:avLst/>
          </a:prstGeom>
          <a:noFill/>
        </p:spPr>
        <p:txBody>
          <a:bodyPr wrap="square">
            <a:spAutoFit/>
          </a:bodyPr>
          <a:lstStyle/>
          <a:p>
            <a:pPr algn="l"/>
            <a:r>
              <a:rPr sz="3000" b="1" i="0">
                <a:solidFill>
                  <a:srgbClr val="FFFFFF"/>
                </a:solidFill>
                <a:latin typeface="Times New Roman" panose="02020603050405020304" pitchFamily="18" charset="0"/>
                <a:cs typeface="Times New Roman" panose="02020603050405020304" pitchFamily="18" charset="0"/>
              </a:rPr>
              <a:t>EDA Highlights — What the Data Tells Us</a:t>
            </a:r>
          </a:p>
        </p:txBody>
      </p:sp>
      <p:sp>
        <p:nvSpPr>
          <p:cNvPr id="4" name="Rectangle 3">
            <a:extLst>
              <a:ext uri="{FF2B5EF4-FFF2-40B4-BE49-F238E27FC236}">
                <a16:creationId xmlns:a16="http://schemas.microsoft.com/office/drawing/2014/main" id="{9E2D5BA9-47E8-D8FB-8D75-81A9ED31C588}"/>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2050" name="Picture 2">
            <a:extLst>
              <a:ext uri="{FF2B5EF4-FFF2-40B4-BE49-F238E27FC236}">
                <a16:creationId xmlns:a16="http://schemas.microsoft.com/office/drawing/2014/main" id="{6AA88584-6E1D-D9D8-6A0A-B208C7D75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 y="1543756"/>
            <a:ext cx="11363765" cy="4308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971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6B357-623D-7F7A-5FEB-8C64E252D83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CBE6B7-4564-5E8A-DEF5-563046DA36B1}"/>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E8C8DE6-055D-747D-E0CB-618599E51C53}"/>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Match Prediction Engine</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220AE49-3423-A448-2A1E-678B572E0303}"/>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grpSp>
        <p:nvGrpSpPr>
          <p:cNvPr id="52" name="Group 51">
            <a:extLst>
              <a:ext uri="{FF2B5EF4-FFF2-40B4-BE49-F238E27FC236}">
                <a16:creationId xmlns:a16="http://schemas.microsoft.com/office/drawing/2014/main" id="{D6F7EC5C-D9D0-A54A-4651-F2EBA3279FEB}"/>
              </a:ext>
            </a:extLst>
          </p:cNvPr>
          <p:cNvGrpSpPr/>
          <p:nvPr/>
        </p:nvGrpSpPr>
        <p:grpSpPr>
          <a:xfrm>
            <a:off x="365759" y="1623749"/>
            <a:ext cx="11324795" cy="4056939"/>
            <a:chOff x="1751012" y="2171700"/>
            <a:chExt cx="8686800" cy="2514600"/>
          </a:xfrm>
        </p:grpSpPr>
        <p:sp>
          <p:nvSpPr>
            <p:cNvPr id="27" name="Shape 4">
              <a:extLst>
                <a:ext uri="{FF2B5EF4-FFF2-40B4-BE49-F238E27FC236}">
                  <a16:creationId xmlns:a16="http://schemas.microsoft.com/office/drawing/2014/main" id="{916416F0-EC29-805F-31FA-869329B24F6F}"/>
                </a:ext>
              </a:extLst>
            </p:cNvPr>
            <p:cNvSpPr/>
            <p:nvPr/>
          </p:nvSpPr>
          <p:spPr>
            <a:xfrm>
              <a:off x="1751012" y="2171700"/>
              <a:ext cx="2743200" cy="1143000"/>
            </a:xfrm>
            <a:prstGeom prst="rect">
              <a:avLst/>
            </a:prstGeom>
            <a:solidFill>
              <a:srgbClr val="0D2137"/>
            </a:solidFill>
            <a:ln w="19050">
              <a:solidFill>
                <a:srgbClr val="0EA5A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28" name="Shape 5">
              <a:extLst>
                <a:ext uri="{FF2B5EF4-FFF2-40B4-BE49-F238E27FC236}">
                  <a16:creationId xmlns:a16="http://schemas.microsoft.com/office/drawing/2014/main" id="{7CE30CEF-3085-B759-192E-DF3D7337D9D5}"/>
                </a:ext>
              </a:extLst>
            </p:cNvPr>
            <p:cNvSpPr/>
            <p:nvPr/>
          </p:nvSpPr>
          <p:spPr>
            <a:xfrm>
              <a:off x="3899852" y="2281428"/>
              <a:ext cx="457200" cy="457200"/>
            </a:xfrm>
            <a:prstGeom prst="ellipse">
              <a:avLst/>
            </a:prstGeom>
            <a:solidFill>
              <a:srgbClr val="0EA5A0"/>
            </a:solidFill>
            <a:ln w="12700">
              <a:solidFill>
                <a:srgbClr val="0EA5A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29" name="Text 6">
              <a:extLst>
                <a:ext uri="{FF2B5EF4-FFF2-40B4-BE49-F238E27FC236}">
                  <a16:creationId xmlns:a16="http://schemas.microsoft.com/office/drawing/2014/main" id="{6321F1D7-5854-A694-CF6B-2226151E5B6E}"/>
                </a:ext>
              </a:extLst>
            </p:cNvPr>
            <p:cNvSpPr/>
            <p:nvPr/>
          </p:nvSpPr>
          <p:spPr>
            <a:xfrm>
              <a:off x="38998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30" name="Text 7">
              <a:extLst>
                <a:ext uri="{FF2B5EF4-FFF2-40B4-BE49-F238E27FC236}">
                  <a16:creationId xmlns:a16="http://schemas.microsoft.com/office/drawing/2014/main" id="{BB1746DE-AA96-6691-6CFB-1FF9A4620D33}"/>
                </a:ext>
              </a:extLst>
            </p:cNvPr>
            <p:cNvSpPr/>
            <p:nvPr/>
          </p:nvSpPr>
          <p:spPr>
            <a:xfrm>
              <a:off x="18881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0EA5A0"/>
                  </a:solidFill>
                  <a:latin typeface="Times New Roman" panose="02020603050405020304" pitchFamily="18" charset="0"/>
                  <a:ea typeface="Calibri" pitchFamily="34" charset="-122"/>
                  <a:cs typeface="Times New Roman" panose="02020603050405020304" pitchFamily="18" charset="0"/>
                </a:rPr>
                <a:t>Recent Form Score</a:t>
              </a:r>
              <a:endParaRPr lang="en-US" sz="2400" dirty="0">
                <a:latin typeface="Times New Roman" panose="02020603050405020304" pitchFamily="18" charset="0"/>
                <a:cs typeface="Times New Roman" panose="02020603050405020304" pitchFamily="18" charset="0"/>
              </a:endParaRPr>
            </a:p>
          </p:txBody>
        </p:sp>
        <p:sp>
          <p:nvSpPr>
            <p:cNvPr id="31" name="Text 8">
              <a:extLst>
                <a:ext uri="{FF2B5EF4-FFF2-40B4-BE49-F238E27FC236}">
                  <a16:creationId xmlns:a16="http://schemas.microsoft.com/office/drawing/2014/main" id="{9212458C-8710-1442-E9A1-1D7E3CA54C85}"/>
                </a:ext>
              </a:extLst>
            </p:cNvPr>
            <p:cNvSpPr/>
            <p:nvPr/>
          </p:nvSpPr>
          <p:spPr>
            <a:xfrm>
              <a:off x="18881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Last 10 international matches (all competitions)</a:t>
              </a:r>
              <a:endParaRPr lang="en-US" sz="1600" dirty="0">
                <a:latin typeface="Times New Roman" panose="02020603050405020304" pitchFamily="18" charset="0"/>
                <a:cs typeface="Times New Roman" panose="02020603050405020304" pitchFamily="18" charset="0"/>
              </a:endParaRPr>
            </a:p>
          </p:txBody>
        </p:sp>
        <p:sp>
          <p:nvSpPr>
            <p:cNvPr id="32" name="Shape 9">
              <a:extLst>
                <a:ext uri="{FF2B5EF4-FFF2-40B4-BE49-F238E27FC236}">
                  <a16:creationId xmlns:a16="http://schemas.microsoft.com/office/drawing/2014/main" id="{671E33AF-3DAF-CADA-5419-51CAD303D511}"/>
                </a:ext>
              </a:extLst>
            </p:cNvPr>
            <p:cNvSpPr/>
            <p:nvPr/>
          </p:nvSpPr>
          <p:spPr>
            <a:xfrm>
              <a:off x="4722812" y="2171700"/>
              <a:ext cx="2743200" cy="1143000"/>
            </a:xfrm>
            <a:prstGeom prst="rect">
              <a:avLst/>
            </a:prstGeom>
            <a:solidFill>
              <a:srgbClr val="0D2137"/>
            </a:solidFill>
            <a:ln w="19050">
              <a:solidFill>
                <a:srgbClr val="F0C233"/>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3" name="Shape 10">
              <a:extLst>
                <a:ext uri="{FF2B5EF4-FFF2-40B4-BE49-F238E27FC236}">
                  <a16:creationId xmlns:a16="http://schemas.microsoft.com/office/drawing/2014/main" id="{7FBCDD72-1EFC-B1C5-16D2-27927CE9E599}"/>
                </a:ext>
              </a:extLst>
            </p:cNvPr>
            <p:cNvSpPr/>
            <p:nvPr/>
          </p:nvSpPr>
          <p:spPr>
            <a:xfrm>
              <a:off x="6871652" y="2281428"/>
              <a:ext cx="457200" cy="457200"/>
            </a:xfrm>
            <a:prstGeom prst="ellipse">
              <a:avLst/>
            </a:prstGeom>
            <a:solidFill>
              <a:srgbClr val="F0C233"/>
            </a:solidFill>
            <a:ln w="12700">
              <a:solidFill>
                <a:srgbClr val="F0C233"/>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4" name="Text 11">
              <a:extLst>
                <a:ext uri="{FF2B5EF4-FFF2-40B4-BE49-F238E27FC236}">
                  <a16:creationId xmlns:a16="http://schemas.microsoft.com/office/drawing/2014/main" id="{58660833-7356-72F9-943A-0E9EAA4FBD2F}"/>
                </a:ext>
              </a:extLst>
            </p:cNvPr>
            <p:cNvSpPr/>
            <p:nvPr/>
          </p:nvSpPr>
          <p:spPr>
            <a:xfrm>
              <a:off x="68716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20%</a:t>
              </a:r>
              <a:endParaRPr lang="en-US" sz="1600" dirty="0">
                <a:latin typeface="Times New Roman" panose="02020603050405020304" pitchFamily="18" charset="0"/>
                <a:cs typeface="Times New Roman" panose="02020603050405020304" pitchFamily="18" charset="0"/>
              </a:endParaRPr>
            </a:p>
          </p:txBody>
        </p:sp>
        <p:sp>
          <p:nvSpPr>
            <p:cNvPr id="35" name="Text 12">
              <a:extLst>
                <a:ext uri="{FF2B5EF4-FFF2-40B4-BE49-F238E27FC236}">
                  <a16:creationId xmlns:a16="http://schemas.microsoft.com/office/drawing/2014/main" id="{83546B7B-DC07-A88A-54F6-7666BC6D539D}"/>
                </a:ext>
              </a:extLst>
            </p:cNvPr>
            <p:cNvSpPr/>
            <p:nvPr/>
          </p:nvSpPr>
          <p:spPr>
            <a:xfrm>
              <a:off x="48599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F0C233"/>
                  </a:solidFill>
                  <a:latin typeface="Times New Roman" panose="02020603050405020304" pitchFamily="18" charset="0"/>
                  <a:ea typeface="Calibri" pitchFamily="34" charset="-122"/>
                  <a:cs typeface="Times New Roman" panose="02020603050405020304" pitchFamily="18" charset="0"/>
                </a:rPr>
                <a:t>Head-to-Head Record</a:t>
              </a:r>
              <a:endParaRPr lang="en-US" sz="2400" dirty="0">
                <a:latin typeface="Times New Roman" panose="02020603050405020304" pitchFamily="18" charset="0"/>
                <a:cs typeface="Times New Roman" panose="02020603050405020304" pitchFamily="18" charset="0"/>
              </a:endParaRPr>
            </a:p>
          </p:txBody>
        </p:sp>
        <p:sp>
          <p:nvSpPr>
            <p:cNvPr id="36" name="Text 13">
              <a:extLst>
                <a:ext uri="{FF2B5EF4-FFF2-40B4-BE49-F238E27FC236}">
                  <a16:creationId xmlns:a16="http://schemas.microsoft.com/office/drawing/2014/main" id="{519B462B-79DE-2169-6A13-DB5A6B4BEFE4}"/>
                </a:ext>
              </a:extLst>
            </p:cNvPr>
            <p:cNvSpPr/>
            <p:nvPr/>
          </p:nvSpPr>
          <p:spPr>
            <a:xfrm>
              <a:off x="48599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All international meetings between the two teams</a:t>
              </a:r>
              <a:endParaRPr lang="en-US" sz="1600" dirty="0">
                <a:latin typeface="Times New Roman" panose="02020603050405020304" pitchFamily="18" charset="0"/>
                <a:cs typeface="Times New Roman" panose="02020603050405020304" pitchFamily="18" charset="0"/>
              </a:endParaRPr>
            </a:p>
          </p:txBody>
        </p:sp>
        <p:sp>
          <p:nvSpPr>
            <p:cNvPr id="37" name="Shape 14">
              <a:extLst>
                <a:ext uri="{FF2B5EF4-FFF2-40B4-BE49-F238E27FC236}">
                  <a16:creationId xmlns:a16="http://schemas.microsoft.com/office/drawing/2014/main" id="{BC217E70-23F4-1A64-9F98-F288443DE57C}"/>
                </a:ext>
              </a:extLst>
            </p:cNvPr>
            <p:cNvSpPr/>
            <p:nvPr/>
          </p:nvSpPr>
          <p:spPr>
            <a:xfrm>
              <a:off x="7694612" y="2171700"/>
              <a:ext cx="2743200" cy="1143000"/>
            </a:xfrm>
            <a:prstGeom prst="rect">
              <a:avLst/>
            </a:prstGeom>
            <a:solidFill>
              <a:srgbClr val="0D2137"/>
            </a:solidFill>
            <a:ln w="19050">
              <a:solidFill>
                <a:srgbClr val="E74C3C"/>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38" name="Shape 15">
              <a:extLst>
                <a:ext uri="{FF2B5EF4-FFF2-40B4-BE49-F238E27FC236}">
                  <a16:creationId xmlns:a16="http://schemas.microsoft.com/office/drawing/2014/main" id="{144CC45C-1FAA-1DBD-0E00-CFC931EEBF93}"/>
                </a:ext>
              </a:extLst>
            </p:cNvPr>
            <p:cNvSpPr/>
            <p:nvPr/>
          </p:nvSpPr>
          <p:spPr>
            <a:xfrm>
              <a:off x="9843452" y="2281428"/>
              <a:ext cx="457200" cy="457200"/>
            </a:xfrm>
            <a:prstGeom prst="ellipse">
              <a:avLst/>
            </a:prstGeom>
            <a:solidFill>
              <a:srgbClr val="E74C3C"/>
            </a:solidFill>
            <a:ln w="12700">
              <a:solidFill>
                <a:srgbClr val="E74C3C"/>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39" name="Text 16">
              <a:extLst>
                <a:ext uri="{FF2B5EF4-FFF2-40B4-BE49-F238E27FC236}">
                  <a16:creationId xmlns:a16="http://schemas.microsoft.com/office/drawing/2014/main" id="{62147A9D-1475-C841-D25E-68A0B7AB0EFF}"/>
                </a:ext>
              </a:extLst>
            </p:cNvPr>
            <p:cNvSpPr/>
            <p:nvPr/>
          </p:nvSpPr>
          <p:spPr>
            <a:xfrm>
              <a:off x="9843452" y="22814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25%</a:t>
              </a:r>
              <a:endParaRPr lang="en-US" sz="1600" dirty="0">
                <a:latin typeface="Times New Roman" panose="02020603050405020304" pitchFamily="18" charset="0"/>
                <a:cs typeface="Times New Roman" panose="02020603050405020304" pitchFamily="18" charset="0"/>
              </a:endParaRPr>
            </a:p>
          </p:txBody>
        </p:sp>
        <p:sp>
          <p:nvSpPr>
            <p:cNvPr id="40" name="Text 17">
              <a:extLst>
                <a:ext uri="{FF2B5EF4-FFF2-40B4-BE49-F238E27FC236}">
                  <a16:creationId xmlns:a16="http://schemas.microsoft.com/office/drawing/2014/main" id="{6AF3B4DF-DFD1-461D-D728-6231F5ADD9DD}"/>
                </a:ext>
              </a:extLst>
            </p:cNvPr>
            <p:cNvSpPr/>
            <p:nvPr/>
          </p:nvSpPr>
          <p:spPr>
            <a:xfrm>
              <a:off x="7831772" y="22814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E74C3C"/>
                  </a:solidFill>
                  <a:latin typeface="Times New Roman" panose="02020603050405020304" pitchFamily="18" charset="0"/>
                  <a:ea typeface="Calibri" pitchFamily="34" charset="-122"/>
                  <a:cs typeface="Times New Roman" panose="02020603050405020304" pitchFamily="18" charset="0"/>
                </a:rPr>
                <a:t>Overall WC Win Rate</a:t>
              </a:r>
              <a:endParaRPr lang="en-US" sz="2400" dirty="0">
                <a:latin typeface="Times New Roman" panose="02020603050405020304" pitchFamily="18" charset="0"/>
                <a:cs typeface="Times New Roman" panose="02020603050405020304" pitchFamily="18" charset="0"/>
              </a:endParaRPr>
            </a:p>
          </p:txBody>
        </p:sp>
        <p:sp>
          <p:nvSpPr>
            <p:cNvPr id="41" name="Text 18">
              <a:extLst>
                <a:ext uri="{FF2B5EF4-FFF2-40B4-BE49-F238E27FC236}">
                  <a16:creationId xmlns:a16="http://schemas.microsoft.com/office/drawing/2014/main" id="{C4CB468F-6FF1-5FD7-0D35-926E3C220E65}"/>
                </a:ext>
              </a:extLst>
            </p:cNvPr>
            <p:cNvSpPr/>
            <p:nvPr/>
          </p:nvSpPr>
          <p:spPr>
            <a:xfrm>
              <a:off x="7831772" y="27203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Complete World Cup match history</a:t>
              </a:r>
              <a:endParaRPr lang="en-US" sz="1600" dirty="0">
                <a:latin typeface="Times New Roman" panose="02020603050405020304" pitchFamily="18" charset="0"/>
                <a:cs typeface="Times New Roman" panose="02020603050405020304" pitchFamily="18" charset="0"/>
              </a:endParaRPr>
            </a:p>
          </p:txBody>
        </p:sp>
        <p:sp>
          <p:nvSpPr>
            <p:cNvPr id="42" name="Shape 19">
              <a:extLst>
                <a:ext uri="{FF2B5EF4-FFF2-40B4-BE49-F238E27FC236}">
                  <a16:creationId xmlns:a16="http://schemas.microsoft.com/office/drawing/2014/main" id="{353DB2A4-F0ED-079A-9386-FBD9223E664E}"/>
                </a:ext>
              </a:extLst>
            </p:cNvPr>
            <p:cNvSpPr/>
            <p:nvPr/>
          </p:nvSpPr>
          <p:spPr>
            <a:xfrm>
              <a:off x="1751012" y="3543300"/>
              <a:ext cx="2743200" cy="1143000"/>
            </a:xfrm>
            <a:prstGeom prst="rect">
              <a:avLst/>
            </a:prstGeom>
            <a:solidFill>
              <a:srgbClr val="0D2137"/>
            </a:solidFill>
            <a:ln w="19050">
              <a:solidFill>
                <a:srgbClr val="9B59B6"/>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3" name="Shape 20">
              <a:extLst>
                <a:ext uri="{FF2B5EF4-FFF2-40B4-BE49-F238E27FC236}">
                  <a16:creationId xmlns:a16="http://schemas.microsoft.com/office/drawing/2014/main" id="{AFEC5020-130F-BFF8-E6E5-4EE8DD0C1D1B}"/>
                </a:ext>
              </a:extLst>
            </p:cNvPr>
            <p:cNvSpPr/>
            <p:nvPr/>
          </p:nvSpPr>
          <p:spPr>
            <a:xfrm>
              <a:off x="3899852" y="3653028"/>
              <a:ext cx="457200" cy="457200"/>
            </a:xfrm>
            <a:prstGeom prst="ellipse">
              <a:avLst/>
            </a:prstGeom>
            <a:solidFill>
              <a:srgbClr val="9B59B6"/>
            </a:solidFill>
            <a:ln w="12700">
              <a:solidFill>
                <a:srgbClr val="9B59B6"/>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4" name="Text 21">
              <a:extLst>
                <a:ext uri="{FF2B5EF4-FFF2-40B4-BE49-F238E27FC236}">
                  <a16:creationId xmlns:a16="http://schemas.microsoft.com/office/drawing/2014/main" id="{067B8847-7B0B-A2D0-0B24-F3461E2DE714}"/>
                </a:ext>
              </a:extLst>
            </p:cNvPr>
            <p:cNvSpPr/>
            <p:nvPr/>
          </p:nvSpPr>
          <p:spPr>
            <a:xfrm>
              <a:off x="38998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45" name="Text 22">
              <a:extLst>
                <a:ext uri="{FF2B5EF4-FFF2-40B4-BE49-F238E27FC236}">
                  <a16:creationId xmlns:a16="http://schemas.microsoft.com/office/drawing/2014/main" id="{F0BB6264-79D5-243C-1B8B-F5CA19B7C164}"/>
                </a:ext>
              </a:extLst>
            </p:cNvPr>
            <p:cNvSpPr/>
            <p:nvPr/>
          </p:nvSpPr>
          <p:spPr>
            <a:xfrm>
              <a:off x="18881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9B59B6"/>
                  </a:solidFill>
                  <a:latin typeface="Times New Roman" panose="02020603050405020304" pitchFamily="18" charset="0"/>
                  <a:ea typeface="Calibri" pitchFamily="34" charset="-122"/>
                  <a:cs typeface="Times New Roman" panose="02020603050405020304" pitchFamily="18" charset="0"/>
                </a:rPr>
                <a:t>H2H Goal Average</a:t>
              </a:r>
              <a:endParaRPr lang="en-US" sz="2400" dirty="0">
                <a:latin typeface="Times New Roman" panose="02020603050405020304" pitchFamily="18" charset="0"/>
                <a:cs typeface="Times New Roman" panose="02020603050405020304" pitchFamily="18" charset="0"/>
              </a:endParaRPr>
            </a:p>
          </p:txBody>
        </p:sp>
        <p:sp>
          <p:nvSpPr>
            <p:cNvPr id="46" name="Text 23">
              <a:extLst>
                <a:ext uri="{FF2B5EF4-FFF2-40B4-BE49-F238E27FC236}">
                  <a16:creationId xmlns:a16="http://schemas.microsoft.com/office/drawing/2014/main" id="{52FDCB9B-749E-7629-3D65-3B57CD130AEF}"/>
                </a:ext>
              </a:extLst>
            </p:cNvPr>
            <p:cNvSpPr/>
            <p:nvPr/>
          </p:nvSpPr>
          <p:spPr>
            <a:xfrm>
              <a:off x="18881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Goals per game in head-to-head meetings</a:t>
              </a:r>
              <a:endParaRPr lang="en-US" sz="1600" dirty="0">
                <a:latin typeface="Times New Roman" panose="02020603050405020304" pitchFamily="18" charset="0"/>
                <a:cs typeface="Times New Roman" panose="02020603050405020304" pitchFamily="18" charset="0"/>
              </a:endParaRPr>
            </a:p>
          </p:txBody>
        </p:sp>
        <p:sp>
          <p:nvSpPr>
            <p:cNvPr id="47" name="Shape 24">
              <a:extLst>
                <a:ext uri="{FF2B5EF4-FFF2-40B4-BE49-F238E27FC236}">
                  <a16:creationId xmlns:a16="http://schemas.microsoft.com/office/drawing/2014/main" id="{7040B7DC-EA26-38C1-D547-65B6EE49CA46}"/>
                </a:ext>
              </a:extLst>
            </p:cNvPr>
            <p:cNvSpPr/>
            <p:nvPr/>
          </p:nvSpPr>
          <p:spPr>
            <a:xfrm>
              <a:off x="4722812" y="3543300"/>
              <a:ext cx="2743200" cy="1143000"/>
            </a:xfrm>
            <a:prstGeom prst="rect">
              <a:avLst/>
            </a:prstGeom>
            <a:solidFill>
              <a:srgbClr val="0D2137"/>
            </a:solidFill>
            <a:ln w="19050">
              <a:solidFill>
                <a:srgbClr val="27AE60"/>
              </a:solidFill>
              <a:prstDash val="solid"/>
            </a:ln>
            <a:effectLst>
              <a:outerShdw blurRad="101600" dist="38100" dir="8100000" algn="bl" rotWithShape="0">
                <a:srgbClr val="000000">
                  <a:alpha val="25000"/>
                </a:srgbClr>
              </a:outerShdw>
            </a:effectLst>
          </p:spPr>
          <p:txBody>
            <a:bodyPr/>
            <a:lstStyle/>
            <a:p>
              <a:endParaRPr lang="en-US" sz="4000">
                <a:latin typeface="Times New Roman" panose="02020603050405020304" pitchFamily="18" charset="0"/>
                <a:cs typeface="Times New Roman" panose="02020603050405020304" pitchFamily="18" charset="0"/>
              </a:endParaRPr>
            </a:p>
          </p:txBody>
        </p:sp>
        <p:sp>
          <p:nvSpPr>
            <p:cNvPr id="48" name="Shape 25">
              <a:extLst>
                <a:ext uri="{FF2B5EF4-FFF2-40B4-BE49-F238E27FC236}">
                  <a16:creationId xmlns:a16="http://schemas.microsoft.com/office/drawing/2014/main" id="{CD024933-5700-493C-B49D-4F0876BE152E}"/>
                </a:ext>
              </a:extLst>
            </p:cNvPr>
            <p:cNvSpPr/>
            <p:nvPr/>
          </p:nvSpPr>
          <p:spPr>
            <a:xfrm>
              <a:off x="6871652" y="3653028"/>
              <a:ext cx="457200" cy="457200"/>
            </a:xfrm>
            <a:prstGeom prst="ellipse">
              <a:avLst/>
            </a:prstGeom>
            <a:solidFill>
              <a:srgbClr val="27AE60"/>
            </a:solidFill>
            <a:ln w="12700">
              <a:solidFill>
                <a:srgbClr val="27AE60"/>
              </a:solidFill>
              <a:prstDash val="solid"/>
            </a:ln>
          </p:spPr>
          <p:txBody>
            <a:bodyPr/>
            <a:lstStyle/>
            <a:p>
              <a:endParaRPr lang="en-US" sz="4000">
                <a:latin typeface="Times New Roman" panose="02020603050405020304" pitchFamily="18" charset="0"/>
                <a:cs typeface="Times New Roman" panose="02020603050405020304" pitchFamily="18" charset="0"/>
              </a:endParaRPr>
            </a:p>
          </p:txBody>
        </p:sp>
        <p:sp>
          <p:nvSpPr>
            <p:cNvPr id="49" name="Text 26">
              <a:extLst>
                <a:ext uri="{FF2B5EF4-FFF2-40B4-BE49-F238E27FC236}">
                  <a16:creationId xmlns:a16="http://schemas.microsoft.com/office/drawing/2014/main" id="{3EC4A293-53A1-9EA3-EA15-72AA8583E4D5}"/>
                </a:ext>
              </a:extLst>
            </p:cNvPr>
            <p:cNvSpPr/>
            <p:nvPr/>
          </p:nvSpPr>
          <p:spPr>
            <a:xfrm>
              <a:off x="6871652" y="3653028"/>
              <a:ext cx="457200" cy="4572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0A1628"/>
                  </a:solidFill>
                  <a:latin typeface="Times New Roman" panose="02020603050405020304" pitchFamily="18" charset="0"/>
                  <a:cs typeface="Times New Roman" panose="02020603050405020304" pitchFamily="18" charset="0"/>
                </a:rPr>
                <a:t>15%</a:t>
              </a:r>
              <a:endParaRPr lang="en-US" sz="1600" dirty="0">
                <a:latin typeface="Times New Roman" panose="02020603050405020304" pitchFamily="18" charset="0"/>
                <a:cs typeface="Times New Roman" panose="02020603050405020304" pitchFamily="18" charset="0"/>
              </a:endParaRPr>
            </a:p>
          </p:txBody>
        </p:sp>
        <p:sp>
          <p:nvSpPr>
            <p:cNvPr id="50" name="Text 27">
              <a:extLst>
                <a:ext uri="{FF2B5EF4-FFF2-40B4-BE49-F238E27FC236}">
                  <a16:creationId xmlns:a16="http://schemas.microsoft.com/office/drawing/2014/main" id="{C491D535-8234-355B-07DF-8ED9D7CEDFDD}"/>
                </a:ext>
              </a:extLst>
            </p:cNvPr>
            <p:cNvSpPr/>
            <p:nvPr/>
          </p:nvSpPr>
          <p:spPr>
            <a:xfrm>
              <a:off x="4859972" y="3653028"/>
              <a:ext cx="1920240" cy="38404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400" b="1" dirty="0">
                  <a:solidFill>
                    <a:srgbClr val="27AE60"/>
                  </a:solidFill>
                  <a:latin typeface="Times New Roman" panose="02020603050405020304" pitchFamily="18" charset="0"/>
                  <a:ea typeface="Calibri" pitchFamily="34" charset="-122"/>
                  <a:cs typeface="Times New Roman" panose="02020603050405020304" pitchFamily="18" charset="0"/>
                </a:rPr>
                <a:t>Recent Goal Difference</a:t>
              </a:r>
              <a:endParaRPr lang="en-US" sz="2400" dirty="0">
                <a:latin typeface="Times New Roman" panose="02020603050405020304" pitchFamily="18" charset="0"/>
                <a:cs typeface="Times New Roman" panose="02020603050405020304" pitchFamily="18" charset="0"/>
              </a:endParaRPr>
            </a:p>
          </p:txBody>
        </p:sp>
        <p:sp>
          <p:nvSpPr>
            <p:cNvPr id="51" name="Text 28">
              <a:extLst>
                <a:ext uri="{FF2B5EF4-FFF2-40B4-BE49-F238E27FC236}">
                  <a16:creationId xmlns:a16="http://schemas.microsoft.com/office/drawing/2014/main" id="{4D3D3695-A050-6201-B0F6-F0542FB54DE3}"/>
                </a:ext>
              </a:extLst>
            </p:cNvPr>
            <p:cNvSpPr/>
            <p:nvPr/>
          </p:nvSpPr>
          <p:spPr>
            <a:xfrm>
              <a:off x="4859972" y="4091940"/>
              <a:ext cx="2514600" cy="50292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dirty="0">
                  <a:solidFill>
                    <a:srgbClr val="B0BEC5"/>
                  </a:solidFill>
                  <a:latin typeface="Times New Roman" panose="02020603050405020304" pitchFamily="18" charset="0"/>
                  <a:ea typeface="Calibri" pitchFamily="34" charset="-122"/>
                  <a:cs typeface="Times New Roman" panose="02020603050405020304" pitchFamily="18" charset="0"/>
                </a:rPr>
                <a:t>Goal difference in last 10 international matches</a:t>
              </a:r>
              <a:endParaRPr lang="en-US" sz="16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932793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425F2-13A7-F8E7-6D78-A7EE5A03E5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F746A4-ADD0-C3CE-3629-5102D88D32CF}"/>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C45D74E-3A04-1EB5-76ED-EF8D52B4938C}"/>
              </a:ext>
            </a:extLst>
          </p:cNvPr>
          <p:cNvSpPr txBox="1"/>
          <p:nvPr/>
        </p:nvSpPr>
        <p:spPr>
          <a:xfrm>
            <a:off x="365760" y="164592"/>
            <a:ext cx="10972800" cy="584775"/>
          </a:xfrm>
          <a:prstGeom prst="rect">
            <a:avLst/>
          </a:prstGeom>
          <a:noFill/>
        </p:spPr>
        <p:txBody>
          <a:bodyPr wrap="square">
            <a:spAutoFit/>
          </a:bodyPr>
          <a:lstStyle/>
          <a:p>
            <a:r>
              <a:rPr lang="en-US" sz="3200" b="1" dirty="0">
                <a:solidFill>
                  <a:srgbClr val="FFFFFF"/>
                </a:solidFill>
                <a:latin typeface="Times New Roman" panose="02020603050405020304" pitchFamily="18" charset="0"/>
                <a:ea typeface="Arial Black" pitchFamily="34" charset="-122"/>
                <a:cs typeface="Times New Roman" panose="02020603050405020304" pitchFamily="18" charset="0"/>
              </a:rPr>
              <a:t>Prediction: Brazil vs Germany</a:t>
            </a:r>
            <a:endParaRPr lang="en-US" sz="32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1E49B584-CAE2-29A1-4A13-6718085429B5}"/>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D9EDE2EE-ED69-95EE-5E01-34126B02DF7C}"/>
              </a:ext>
            </a:extLst>
          </p:cNvPr>
          <p:cNvPicPr>
            <a:picLocks noChangeAspect="1"/>
          </p:cNvPicPr>
          <p:nvPr/>
        </p:nvPicPr>
        <p:blipFill>
          <a:blip r:embed="rId3"/>
          <a:stretch>
            <a:fillRect/>
          </a:stretch>
        </p:blipFill>
        <p:spPr>
          <a:xfrm>
            <a:off x="274319" y="1170433"/>
            <a:ext cx="11484455" cy="5497878"/>
          </a:xfrm>
          <a:prstGeom prst="rect">
            <a:avLst/>
          </a:prstGeom>
        </p:spPr>
      </p:pic>
    </p:spTree>
    <p:extLst>
      <p:ext uri="{BB962C8B-B14F-4D97-AF65-F5344CB8AC3E}">
        <p14:creationId xmlns:p14="http://schemas.microsoft.com/office/powerpoint/2010/main" val="399801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8495-E71A-1BAB-7D62-2922BA6CCA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36F36A-68BC-89E6-2AEC-781A78B90F68}"/>
              </a:ext>
            </a:extLst>
          </p:cNvPr>
          <p:cNvSpPr/>
          <p:nvPr/>
        </p:nvSpPr>
        <p:spPr>
          <a:xfrm>
            <a:off x="0" y="0"/>
            <a:ext cx="12188952" cy="1005840"/>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C5A4765-BA9B-C8DC-C527-B41B96671262}"/>
              </a:ext>
            </a:extLst>
          </p:cNvPr>
          <p:cNvSpPr txBox="1"/>
          <p:nvPr/>
        </p:nvSpPr>
        <p:spPr>
          <a:xfrm>
            <a:off x="365760" y="164592"/>
            <a:ext cx="10972800" cy="553998"/>
          </a:xfrm>
          <a:prstGeom prst="rect">
            <a:avLst/>
          </a:prstGeom>
          <a:noFill/>
        </p:spPr>
        <p:txBody>
          <a:bodyPr wrap="square">
            <a:spAutoFit/>
          </a:bodyPr>
          <a:lstStyle/>
          <a:p>
            <a:pPr algn="l"/>
            <a:r>
              <a:rPr lang="en-IN" sz="3000" b="1" i="0" dirty="0">
                <a:solidFill>
                  <a:srgbClr val="FFFFFF"/>
                </a:solidFill>
                <a:latin typeface="Times New Roman" panose="02020603050405020304" pitchFamily="18" charset="0"/>
                <a:cs typeface="Times New Roman" panose="02020603050405020304" pitchFamily="18" charset="0"/>
              </a:rPr>
              <a:t>LLM Match Preview</a:t>
            </a:r>
            <a:endParaRPr sz="3000" b="1" i="0" dirty="0">
              <a:solidFill>
                <a:srgbClr val="FFFFFF"/>
              </a:solidFill>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D3AE5E21-0B2C-647E-7152-F872C4BFE0E4}"/>
              </a:ext>
            </a:extLst>
          </p:cNvPr>
          <p:cNvSpPr/>
          <p:nvPr/>
        </p:nvSpPr>
        <p:spPr>
          <a:xfrm>
            <a:off x="0" y="1005840"/>
            <a:ext cx="12188952" cy="585216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pic>
        <p:nvPicPr>
          <p:cNvPr id="6" name="Image 0" descr="preencoded.png">
            <a:extLst>
              <a:ext uri="{FF2B5EF4-FFF2-40B4-BE49-F238E27FC236}">
                <a16:creationId xmlns:a16="http://schemas.microsoft.com/office/drawing/2014/main" id="{C278E653-F7F4-9CC2-F886-9845F78276DF}"/>
              </a:ext>
            </a:extLst>
          </p:cNvPr>
          <p:cNvPicPr>
            <a:picLocks noChangeAspect="1"/>
          </p:cNvPicPr>
          <p:nvPr/>
        </p:nvPicPr>
        <p:blipFill>
          <a:blip r:embed="rId3"/>
          <a:stretch>
            <a:fillRect/>
          </a:stretch>
        </p:blipFill>
        <p:spPr>
          <a:xfrm>
            <a:off x="365760" y="1334186"/>
            <a:ext cx="11327079" cy="4778938"/>
          </a:xfrm>
          <a:prstGeom prst="rect">
            <a:avLst/>
          </a:prstGeom>
        </p:spPr>
      </p:pic>
    </p:spTree>
    <p:extLst>
      <p:ext uri="{BB962C8B-B14F-4D97-AF65-F5344CB8AC3E}">
        <p14:creationId xmlns:p14="http://schemas.microsoft.com/office/powerpoint/2010/main" val="235717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CE6D-7F86-DE21-229F-41A2F791778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4610F7B-C97B-7CA5-E454-814DDEE70C58}"/>
              </a:ext>
            </a:extLst>
          </p:cNvPr>
          <p:cNvSpPr/>
          <p:nvPr/>
        </p:nvSpPr>
        <p:spPr>
          <a:xfrm>
            <a:off x="0" y="0"/>
            <a:ext cx="12188952" cy="1005840"/>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4A99DDC-C16D-AE45-8F1F-C5640C5AF7C9}"/>
              </a:ext>
            </a:extLst>
          </p:cNvPr>
          <p:cNvSpPr txBox="1"/>
          <p:nvPr/>
        </p:nvSpPr>
        <p:spPr>
          <a:xfrm>
            <a:off x="365760" y="164592"/>
            <a:ext cx="10972800" cy="553998"/>
          </a:xfrm>
          <a:prstGeom prst="rect">
            <a:avLst/>
          </a:prstGeom>
          <a:noFill/>
        </p:spPr>
        <p:txBody>
          <a:bodyPr wrap="square">
            <a:spAutoFit/>
          </a:bodyPr>
          <a:lstStyle/>
          <a:p>
            <a:pPr algn="l"/>
            <a:r>
              <a:rPr sz="3000" b="1" i="0" dirty="0">
                <a:solidFill>
                  <a:srgbClr val="FFFFFF"/>
                </a:solidFill>
                <a:latin typeface="Times New Roman" panose="02020603050405020304" pitchFamily="18" charset="0"/>
                <a:cs typeface="Times New Roman" panose="02020603050405020304" pitchFamily="18" charset="0"/>
              </a:rPr>
              <a:t>Live Demo — </a:t>
            </a:r>
            <a:r>
              <a:rPr lang="en-IN" sz="3000" b="1" i="0" dirty="0" err="1">
                <a:solidFill>
                  <a:srgbClr val="FFFFFF"/>
                </a:solidFill>
                <a:latin typeface="Times New Roman" panose="02020603050405020304" pitchFamily="18" charset="0"/>
                <a:cs typeface="Times New Roman" panose="02020603050405020304" pitchFamily="18" charset="0"/>
              </a:rPr>
              <a:t>Gradio</a:t>
            </a:r>
            <a:r>
              <a:rPr lang="en-IN" sz="3000" b="1" i="0" dirty="0">
                <a:solidFill>
                  <a:srgbClr val="FFFFFF"/>
                </a:solidFill>
                <a:latin typeface="Times New Roman" panose="02020603050405020304" pitchFamily="18" charset="0"/>
                <a:cs typeface="Times New Roman" panose="02020603050405020304" pitchFamily="18" charset="0"/>
              </a:rPr>
              <a:t> Web Interface</a:t>
            </a:r>
            <a:endParaRPr sz="3000" b="1" i="0" dirty="0">
              <a:solidFill>
                <a:srgbClr val="FFFFFF"/>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B063E89-1C22-4085-6414-8DEE1FDBC554}"/>
              </a:ext>
            </a:extLst>
          </p:cNvPr>
          <p:cNvPicPr>
            <a:picLocks noChangeAspect="1"/>
          </p:cNvPicPr>
          <p:nvPr/>
        </p:nvPicPr>
        <p:blipFill>
          <a:blip r:embed="rId3"/>
          <a:stretch>
            <a:fillRect/>
          </a:stretch>
        </p:blipFill>
        <p:spPr>
          <a:xfrm>
            <a:off x="1429278" y="1170432"/>
            <a:ext cx="9483196" cy="5511031"/>
          </a:xfrm>
          <a:prstGeom prst="rect">
            <a:avLst/>
          </a:prstGeom>
        </p:spPr>
      </p:pic>
    </p:spTree>
    <p:extLst>
      <p:ext uri="{BB962C8B-B14F-4D97-AF65-F5344CB8AC3E}">
        <p14:creationId xmlns:p14="http://schemas.microsoft.com/office/powerpoint/2010/main" val="2298200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69E0-4C7E-1B8B-1DFC-18609AEB73F5}"/>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68ACCB3-4B1D-ABD5-CD25-CA715DC12F48}"/>
              </a:ext>
            </a:extLst>
          </p:cNvPr>
          <p:cNvGrpSpPr/>
          <p:nvPr/>
        </p:nvGrpSpPr>
        <p:grpSpPr>
          <a:xfrm>
            <a:off x="-1" y="-1"/>
            <a:ext cx="12188825" cy="6685935"/>
            <a:chOff x="0" y="0"/>
            <a:chExt cx="9144000" cy="4873752"/>
          </a:xfrm>
        </p:grpSpPr>
        <p:sp>
          <p:nvSpPr>
            <p:cNvPr id="18" name="Shape 0">
              <a:extLst>
                <a:ext uri="{FF2B5EF4-FFF2-40B4-BE49-F238E27FC236}">
                  <a16:creationId xmlns:a16="http://schemas.microsoft.com/office/drawing/2014/main" id="{81AF33C8-6D39-A541-1421-2BAE05520115}"/>
                </a:ext>
              </a:extLst>
            </p:cNvPr>
            <p:cNvSpPr/>
            <p:nvPr/>
          </p:nvSpPr>
          <p:spPr>
            <a:xfrm>
              <a:off x="0" y="0"/>
              <a:ext cx="9144000" cy="1005840"/>
            </a:xfrm>
            <a:prstGeom prst="rect">
              <a:avLst/>
            </a:prstGeom>
            <a:solidFill>
              <a:srgbClr val="0A1628"/>
            </a:solidFill>
            <a:ln w="12700">
              <a:solidFill>
                <a:srgbClr val="0A1628"/>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Shape 1">
              <a:extLst>
                <a:ext uri="{FF2B5EF4-FFF2-40B4-BE49-F238E27FC236}">
                  <a16:creationId xmlns:a16="http://schemas.microsoft.com/office/drawing/2014/main" id="{D1F898F6-CCA9-C6D2-B8E0-6EF9147B8201}"/>
                </a:ext>
              </a:extLst>
            </p:cNvPr>
            <p:cNvSpPr/>
            <p:nvPr/>
          </p:nvSpPr>
          <p:spPr>
            <a:xfrm>
              <a:off x="0" y="1005840"/>
              <a:ext cx="9144000" cy="45720"/>
            </a:xfrm>
            <a:prstGeom prst="rect">
              <a:avLst/>
            </a:prstGeom>
            <a:solidFill>
              <a:srgbClr val="F0C233"/>
            </a:solidFill>
            <a:ln w="12700">
              <a:solidFill>
                <a:srgbClr val="F0C233"/>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2">
              <a:extLst>
                <a:ext uri="{FF2B5EF4-FFF2-40B4-BE49-F238E27FC236}">
                  <a16:creationId xmlns:a16="http://schemas.microsoft.com/office/drawing/2014/main" id="{3EB4985B-E8B9-7D23-0AD0-2FE88B70E0A7}"/>
                </a:ext>
              </a:extLst>
            </p:cNvPr>
            <p:cNvSpPr/>
            <p:nvPr/>
          </p:nvSpPr>
          <p:spPr>
            <a:xfrm>
              <a:off x="365760" y="137160"/>
              <a:ext cx="7315200" cy="457200"/>
            </a:xfrm>
            <a:prstGeom prst="rect">
              <a:avLst/>
            </a:prstGeom>
            <a:noFill/>
            <a:ln/>
          </p:spPr>
          <p:txBody>
            <a:bodyPr wrap="square" lIns="0" tIns="0" rIns="0" bIns="0" rtlCol="0" anchor="ctr"/>
            <a:lstStyle/>
            <a:p>
              <a:pPr marL="0" indent="0">
                <a:buNone/>
              </a:pPr>
              <a:r>
                <a:rPr lang="en-US" sz="2600" b="1" dirty="0">
                  <a:solidFill>
                    <a:srgbClr val="FFFFFF"/>
                  </a:solidFill>
                  <a:latin typeface="Times New Roman" panose="02020603050405020304" pitchFamily="18" charset="0"/>
                  <a:ea typeface="Arial Black" pitchFamily="34" charset="-122"/>
                  <a:cs typeface="Times New Roman" panose="02020603050405020304" pitchFamily="18" charset="0"/>
                </a:rPr>
                <a:t>KEY FEATURES &amp; DEMO</a:t>
              </a:r>
              <a:endParaRPr lang="en-US" sz="2600" dirty="0">
                <a:latin typeface="Times New Roman" panose="02020603050405020304" pitchFamily="18" charset="0"/>
                <a:cs typeface="Times New Roman" panose="02020603050405020304" pitchFamily="18" charset="0"/>
              </a:endParaRPr>
            </a:p>
          </p:txBody>
        </p:sp>
        <p:sp>
          <p:nvSpPr>
            <p:cNvPr id="21" name="Text 3">
              <a:extLst>
                <a:ext uri="{FF2B5EF4-FFF2-40B4-BE49-F238E27FC236}">
                  <a16:creationId xmlns:a16="http://schemas.microsoft.com/office/drawing/2014/main" id="{836EB4B7-D33E-53A4-4774-D5335D40BAAA}"/>
                </a:ext>
              </a:extLst>
            </p:cNvPr>
            <p:cNvSpPr/>
            <p:nvPr/>
          </p:nvSpPr>
          <p:spPr>
            <a:xfrm>
              <a:off x="365760" y="594360"/>
              <a:ext cx="7315200" cy="320040"/>
            </a:xfrm>
            <a:prstGeom prst="rect">
              <a:avLst/>
            </a:prstGeom>
            <a:noFill/>
            <a:ln/>
          </p:spPr>
          <p:txBody>
            <a:bodyPr wrap="square" lIns="0" tIns="0" rIns="0" bIns="0" rtlCol="0" anchor="ctr"/>
            <a:lstStyle/>
            <a:p>
              <a:pPr marL="0" indent="0">
                <a:buNone/>
              </a:pPr>
              <a:r>
                <a:rPr lang="en-US" sz="1300" i="1" dirty="0">
                  <a:solidFill>
                    <a:srgbClr val="FAE27C"/>
                  </a:solidFill>
                  <a:latin typeface="Times New Roman" panose="02020603050405020304" pitchFamily="18" charset="0"/>
                  <a:ea typeface="Calibri" pitchFamily="34" charset="-122"/>
                  <a:cs typeface="Times New Roman" panose="02020603050405020304" pitchFamily="18" charset="0"/>
                </a:rPr>
                <a:t>What the chatbot can do</a:t>
              </a:r>
              <a:endParaRPr lang="en-US" sz="1300" dirty="0">
                <a:latin typeface="Times New Roman" panose="02020603050405020304" pitchFamily="18" charset="0"/>
                <a:cs typeface="Times New Roman" panose="02020603050405020304" pitchFamily="18" charset="0"/>
              </a:endParaRPr>
            </a:p>
          </p:txBody>
        </p:sp>
        <p:sp>
          <p:nvSpPr>
            <p:cNvPr id="22" name="Shape 4">
              <a:extLst>
                <a:ext uri="{FF2B5EF4-FFF2-40B4-BE49-F238E27FC236}">
                  <a16:creationId xmlns:a16="http://schemas.microsoft.com/office/drawing/2014/main" id="{7F61C294-7656-8381-D5AB-FC5EDB1B8CD7}"/>
                </a:ext>
              </a:extLst>
            </p:cNvPr>
            <p:cNvSpPr/>
            <p:nvPr/>
          </p:nvSpPr>
          <p:spPr>
            <a:xfrm>
              <a:off x="274320" y="1234440"/>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3" name="Text 5">
              <a:extLst>
                <a:ext uri="{FF2B5EF4-FFF2-40B4-BE49-F238E27FC236}">
                  <a16:creationId xmlns:a16="http://schemas.microsoft.com/office/drawing/2014/main" id="{EBE92E2F-512A-5031-2DA2-EBDC910FA9CA}"/>
                </a:ext>
              </a:extLst>
            </p:cNvPr>
            <p:cNvSpPr/>
            <p:nvPr/>
          </p:nvSpPr>
          <p:spPr>
            <a:xfrm>
              <a:off x="320040" y="1234440"/>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4" name="Text 6">
              <a:extLst>
                <a:ext uri="{FF2B5EF4-FFF2-40B4-BE49-F238E27FC236}">
                  <a16:creationId xmlns:a16="http://schemas.microsoft.com/office/drawing/2014/main" id="{F5321FC0-4D26-FF44-E061-D91ABAD778B2}"/>
                </a:ext>
              </a:extLst>
            </p:cNvPr>
            <p:cNvSpPr/>
            <p:nvPr/>
          </p:nvSpPr>
          <p:spPr>
            <a:xfrm>
              <a:off x="868680" y="1289304"/>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Natural Language Q&amp;A</a:t>
              </a:r>
              <a:endParaRPr lang="en-US" sz="1100" dirty="0">
                <a:latin typeface="Times New Roman" panose="02020603050405020304" pitchFamily="18" charset="0"/>
                <a:cs typeface="Times New Roman" panose="02020603050405020304" pitchFamily="18" charset="0"/>
              </a:endParaRPr>
            </a:p>
          </p:txBody>
        </p:sp>
        <p:sp>
          <p:nvSpPr>
            <p:cNvPr id="25" name="Text 7">
              <a:extLst>
                <a:ext uri="{FF2B5EF4-FFF2-40B4-BE49-F238E27FC236}">
                  <a16:creationId xmlns:a16="http://schemas.microsoft.com/office/drawing/2014/main" id="{E4B3623B-489B-BA6E-7A2F-81B379F3BC42}"/>
                </a:ext>
              </a:extLst>
            </p:cNvPr>
            <p:cNvSpPr/>
            <p:nvPr/>
          </p:nvSpPr>
          <p:spPr>
            <a:xfrm>
              <a:off x="868680" y="1545336"/>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Ask anything about World Cup history — winners, top scorers, records</a:t>
              </a:r>
              <a:endParaRPr lang="en-US" sz="950" dirty="0">
                <a:latin typeface="Times New Roman" panose="02020603050405020304" pitchFamily="18" charset="0"/>
                <a:cs typeface="Times New Roman" panose="02020603050405020304" pitchFamily="18" charset="0"/>
              </a:endParaRPr>
            </a:p>
          </p:txBody>
        </p:sp>
        <p:sp>
          <p:nvSpPr>
            <p:cNvPr id="26" name="Shape 8">
              <a:extLst>
                <a:ext uri="{FF2B5EF4-FFF2-40B4-BE49-F238E27FC236}">
                  <a16:creationId xmlns:a16="http://schemas.microsoft.com/office/drawing/2014/main" id="{EF04B7E9-07E2-9BEB-969B-3081B6CD6123}"/>
                </a:ext>
              </a:extLst>
            </p:cNvPr>
            <p:cNvSpPr/>
            <p:nvPr/>
          </p:nvSpPr>
          <p:spPr>
            <a:xfrm>
              <a:off x="274320" y="1984248"/>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27" name="Text 9">
              <a:extLst>
                <a:ext uri="{FF2B5EF4-FFF2-40B4-BE49-F238E27FC236}">
                  <a16:creationId xmlns:a16="http://schemas.microsoft.com/office/drawing/2014/main" id="{DD967778-78E1-93B6-0577-3CB0A103EE66}"/>
                </a:ext>
              </a:extLst>
            </p:cNvPr>
            <p:cNvSpPr/>
            <p:nvPr/>
          </p:nvSpPr>
          <p:spPr>
            <a:xfrm>
              <a:off x="320040" y="1984248"/>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28" name="Text 10">
              <a:extLst>
                <a:ext uri="{FF2B5EF4-FFF2-40B4-BE49-F238E27FC236}">
                  <a16:creationId xmlns:a16="http://schemas.microsoft.com/office/drawing/2014/main" id="{C96C602C-7EE8-232F-4236-005BB664509D}"/>
                </a:ext>
              </a:extLst>
            </p:cNvPr>
            <p:cNvSpPr/>
            <p:nvPr/>
          </p:nvSpPr>
          <p:spPr>
            <a:xfrm>
              <a:off x="868680" y="2039112"/>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Match Prediction</a:t>
              </a:r>
              <a:endParaRPr lang="en-US" sz="1100" dirty="0">
                <a:latin typeface="Times New Roman" panose="02020603050405020304" pitchFamily="18" charset="0"/>
                <a:cs typeface="Times New Roman" panose="02020603050405020304" pitchFamily="18" charset="0"/>
              </a:endParaRPr>
            </a:p>
          </p:txBody>
        </p:sp>
        <p:sp>
          <p:nvSpPr>
            <p:cNvPr id="29" name="Text 11">
              <a:extLst>
                <a:ext uri="{FF2B5EF4-FFF2-40B4-BE49-F238E27FC236}">
                  <a16:creationId xmlns:a16="http://schemas.microsoft.com/office/drawing/2014/main" id="{373322FF-9303-A2FB-F7D7-F5D3D17394B6}"/>
                </a:ext>
              </a:extLst>
            </p:cNvPr>
            <p:cNvSpPr/>
            <p:nvPr/>
          </p:nvSpPr>
          <p:spPr>
            <a:xfrm>
              <a:off x="868680" y="2295144"/>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Prefix query with "predict:" to get evidence-based match outcome analysis</a:t>
              </a:r>
              <a:endParaRPr lang="en-US" sz="950" dirty="0">
                <a:latin typeface="Times New Roman" panose="02020603050405020304" pitchFamily="18" charset="0"/>
                <a:cs typeface="Times New Roman" panose="02020603050405020304" pitchFamily="18" charset="0"/>
              </a:endParaRPr>
            </a:p>
          </p:txBody>
        </p:sp>
        <p:sp>
          <p:nvSpPr>
            <p:cNvPr id="30" name="Shape 12">
              <a:extLst>
                <a:ext uri="{FF2B5EF4-FFF2-40B4-BE49-F238E27FC236}">
                  <a16:creationId xmlns:a16="http://schemas.microsoft.com/office/drawing/2014/main" id="{137120C4-016C-B917-C023-053ADA1F8C52}"/>
                </a:ext>
              </a:extLst>
            </p:cNvPr>
            <p:cNvSpPr/>
            <p:nvPr/>
          </p:nvSpPr>
          <p:spPr>
            <a:xfrm>
              <a:off x="274320" y="2734056"/>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1" name="Text 13">
              <a:extLst>
                <a:ext uri="{FF2B5EF4-FFF2-40B4-BE49-F238E27FC236}">
                  <a16:creationId xmlns:a16="http://schemas.microsoft.com/office/drawing/2014/main" id="{79F61A39-4B27-3CE8-CB92-00B2DEED4BDA}"/>
                </a:ext>
              </a:extLst>
            </p:cNvPr>
            <p:cNvSpPr/>
            <p:nvPr/>
          </p:nvSpPr>
          <p:spPr>
            <a:xfrm>
              <a:off x="320040" y="2734056"/>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2" name="Text 14">
              <a:extLst>
                <a:ext uri="{FF2B5EF4-FFF2-40B4-BE49-F238E27FC236}">
                  <a16:creationId xmlns:a16="http://schemas.microsoft.com/office/drawing/2014/main" id="{4A5894C5-F978-DBEC-37B4-50003D3974D8}"/>
                </a:ext>
              </a:extLst>
            </p:cNvPr>
            <p:cNvSpPr/>
            <p:nvPr/>
          </p:nvSpPr>
          <p:spPr>
            <a:xfrm>
              <a:off x="868680" y="2788920"/>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Conversation Memory</a:t>
              </a:r>
              <a:endParaRPr lang="en-US" sz="1100" dirty="0">
                <a:latin typeface="Times New Roman" panose="02020603050405020304" pitchFamily="18" charset="0"/>
                <a:cs typeface="Times New Roman" panose="02020603050405020304" pitchFamily="18" charset="0"/>
              </a:endParaRPr>
            </a:p>
          </p:txBody>
        </p:sp>
        <p:sp>
          <p:nvSpPr>
            <p:cNvPr id="33" name="Text 15">
              <a:extLst>
                <a:ext uri="{FF2B5EF4-FFF2-40B4-BE49-F238E27FC236}">
                  <a16:creationId xmlns:a16="http://schemas.microsoft.com/office/drawing/2014/main" id="{E8C41C9B-0F03-B2A5-A084-E1CB91887A92}"/>
                </a:ext>
              </a:extLst>
            </p:cNvPr>
            <p:cNvSpPr/>
            <p:nvPr/>
          </p:nvSpPr>
          <p:spPr>
            <a:xfrm>
              <a:off x="868680" y="3044952"/>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Retains chat_history for multi-turn context with persistent user preferences</a:t>
              </a:r>
              <a:endParaRPr lang="en-US" sz="950" dirty="0">
                <a:latin typeface="Times New Roman" panose="02020603050405020304" pitchFamily="18" charset="0"/>
                <a:cs typeface="Times New Roman" panose="02020603050405020304" pitchFamily="18" charset="0"/>
              </a:endParaRPr>
            </a:p>
          </p:txBody>
        </p:sp>
        <p:sp>
          <p:nvSpPr>
            <p:cNvPr id="34" name="Shape 16">
              <a:extLst>
                <a:ext uri="{FF2B5EF4-FFF2-40B4-BE49-F238E27FC236}">
                  <a16:creationId xmlns:a16="http://schemas.microsoft.com/office/drawing/2014/main" id="{9DF3E4FC-ADB8-6397-E65A-643A9A409649}"/>
                </a:ext>
              </a:extLst>
            </p:cNvPr>
            <p:cNvSpPr/>
            <p:nvPr/>
          </p:nvSpPr>
          <p:spPr>
            <a:xfrm>
              <a:off x="274320" y="3483864"/>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5" name="Text 17">
              <a:extLst>
                <a:ext uri="{FF2B5EF4-FFF2-40B4-BE49-F238E27FC236}">
                  <a16:creationId xmlns:a16="http://schemas.microsoft.com/office/drawing/2014/main" id="{4A1E271B-31E3-CF8E-F964-19F63E0B7B20}"/>
                </a:ext>
              </a:extLst>
            </p:cNvPr>
            <p:cNvSpPr/>
            <p:nvPr/>
          </p:nvSpPr>
          <p:spPr>
            <a:xfrm>
              <a:off x="320040" y="3483864"/>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36" name="Text 18">
              <a:extLst>
                <a:ext uri="{FF2B5EF4-FFF2-40B4-BE49-F238E27FC236}">
                  <a16:creationId xmlns:a16="http://schemas.microsoft.com/office/drawing/2014/main" id="{DD875E6B-3D46-B651-9EBC-780C8B150F6D}"/>
                </a:ext>
              </a:extLst>
            </p:cNvPr>
            <p:cNvSpPr/>
            <p:nvPr/>
          </p:nvSpPr>
          <p:spPr>
            <a:xfrm>
              <a:off x="868680" y="3538728"/>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Gradio Interface</a:t>
              </a:r>
              <a:endParaRPr lang="en-US" sz="1100" dirty="0">
                <a:latin typeface="Times New Roman" panose="02020603050405020304" pitchFamily="18" charset="0"/>
                <a:cs typeface="Times New Roman" panose="02020603050405020304" pitchFamily="18" charset="0"/>
              </a:endParaRPr>
            </a:p>
          </p:txBody>
        </p:sp>
        <p:sp>
          <p:nvSpPr>
            <p:cNvPr id="37" name="Text 19">
              <a:extLst>
                <a:ext uri="{FF2B5EF4-FFF2-40B4-BE49-F238E27FC236}">
                  <a16:creationId xmlns:a16="http://schemas.microsoft.com/office/drawing/2014/main" id="{3CC522B1-8144-B054-C93A-3C9172A5D1E0}"/>
                </a:ext>
              </a:extLst>
            </p:cNvPr>
            <p:cNvSpPr/>
            <p:nvPr/>
          </p:nvSpPr>
          <p:spPr>
            <a:xfrm>
              <a:off x="868680" y="3794760"/>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Live shareable web UI for interactive demo during presentations</a:t>
              </a:r>
              <a:endParaRPr lang="en-US" sz="950" dirty="0">
                <a:latin typeface="Times New Roman" panose="02020603050405020304" pitchFamily="18" charset="0"/>
                <a:cs typeface="Times New Roman" panose="02020603050405020304" pitchFamily="18" charset="0"/>
              </a:endParaRPr>
            </a:p>
          </p:txBody>
        </p:sp>
        <p:sp>
          <p:nvSpPr>
            <p:cNvPr id="38" name="Shape 20">
              <a:extLst>
                <a:ext uri="{FF2B5EF4-FFF2-40B4-BE49-F238E27FC236}">
                  <a16:creationId xmlns:a16="http://schemas.microsoft.com/office/drawing/2014/main" id="{BE306911-2CF8-6E39-B654-E11CFB6C24F3}"/>
                </a:ext>
              </a:extLst>
            </p:cNvPr>
            <p:cNvSpPr/>
            <p:nvPr/>
          </p:nvSpPr>
          <p:spPr>
            <a:xfrm>
              <a:off x="274320" y="4233672"/>
              <a:ext cx="4114800" cy="640080"/>
            </a:xfrm>
            <a:prstGeom prst="rect">
              <a:avLst/>
            </a:prstGeom>
            <a:solidFill>
              <a:srgbClr val="0A1628"/>
            </a:solidFill>
            <a:ln w="6350">
              <a:solidFill>
                <a:srgbClr val="1A3A5C"/>
              </a:solidFill>
              <a:prstDash val="solid"/>
            </a:ln>
            <a:effectLst>
              <a:outerShdw blurRad="50800" dist="25400" dir="8100000" algn="bl" rotWithShape="0">
                <a:srgbClr val="000000">
                  <a:alpha val="12000"/>
                </a:srgbClr>
              </a:outerShdw>
            </a:effectLst>
          </p:spPr>
          <p:txBody>
            <a:bodyPr/>
            <a:lstStyle/>
            <a:p>
              <a:endParaRPr lang="en-US">
                <a:latin typeface="Times New Roman" panose="02020603050405020304" pitchFamily="18" charset="0"/>
                <a:cs typeface="Times New Roman" panose="02020603050405020304" pitchFamily="18" charset="0"/>
              </a:endParaRPr>
            </a:p>
          </p:txBody>
        </p:sp>
        <p:sp>
          <p:nvSpPr>
            <p:cNvPr id="39" name="Text 21">
              <a:extLst>
                <a:ext uri="{FF2B5EF4-FFF2-40B4-BE49-F238E27FC236}">
                  <a16:creationId xmlns:a16="http://schemas.microsoft.com/office/drawing/2014/main" id="{59D97041-6650-7779-6658-D05F9C999D77}"/>
                </a:ext>
              </a:extLst>
            </p:cNvPr>
            <p:cNvSpPr/>
            <p:nvPr/>
          </p:nvSpPr>
          <p:spPr>
            <a:xfrm>
              <a:off x="320040" y="4233672"/>
              <a:ext cx="548640" cy="640080"/>
            </a:xfrm>
            <a:prstGeom prst="rect">
              <a:avLst/>
            </a:prstGeom>
            <a:noFill/>
            <a:ln/>
          </p:spPr>
          <p:txBody>
            <a:bodyPr wrap="square" lIns="0" tIns="0" rIns="0" bIns="0" rtlCol="0" anchor="ctr"/>
            <a:lstStyle/>
            <a:p>
              <a:pPr marL="0" indent="0" algn="ctr">
                <a:buNone/>
              </a:pPr>
              <a:r>
                <a:rPr lang="en-US" sz="1800" dirty="0">
                  <a:solidFill>
                    <a:srgbClr val="000000"/>
                  </a:solidFill>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sp>
          <p:nvSpPr>
            <p:cNvPr id="40" name="Text 22">
              <a:extLst>
                <a:ext uri="{FF2B5EF4-FFF2-40B4-BE49-F238E27FC236}">
                  <a16:creationId xmlns:a16="http://schemas.microsoft.com/office/drawing/2014/main" id="{190FF639-8F53-6B68-C70F-811E01349D36}"/>
                </a:ext>
              </a:extLst>
            </p:cNvPr>
            <p:cNvSpPr/>
            <p:nvPr/>
          </p:nvSpPr>
          <p:spPr>
            <a:xfrm>
              <a:off x="868680" y="4288536"/>
              <a:ext cx="3383280" cy="256032"/>
            </a:xfrm>
            <a:prstGeom prst="rect">
              <a:avLst/>
            </a:prstGeom>
            <a:noFill/>
            <a:ln/>
          </p:spPr>
          <p:txBody>
            <a:bodyPr wrap="square" lIns="0" tIns="0" rIns="0" bIns="0" rtlCol="0" anchor="ctr"/>
            <a:lstStyle/>
            <a:p>
              <a:pPr marL="0" indent="0">
                <a:buNone/>
              </a:pPr>
              <a:r>
                <a:rPr lang="en-US" sz="1100" b="1" dirty="0">
                  <a:solidFill>
                    <a:srgbClr val="F0C233"/>
                  </a:solidFill>
                  <a:latin typeface="Times New Roman" panose="02020603050405020304" pitchFamily="18" charset="0"/>
                  <a:ea typeface="Calibri" pitchFamily="34" charset="-122"/>
                  <a:cs typeface="Times New Roman" panose="02020603050405020304" pitchFamily="18" charset="0"/>
                </a:rPr>
                <a:t>Responsible AI</a:t>
              </a:r>
              <a:endParaRPr lang="en-US" sz="1100" dirty="0">
                <a:latin typeface="Times New Roman" panose="02020603050405020304" pitchFamily="18" charset="0"/>
                <a:cs typeface="Times New Roman" panose="02020603050405020304" pitchFamily="18" charset="0"/>
              </a:endParaRPr>
            </a:p>
          </p:txBody>
        </p:sp>
        <p:sp>
          <p:nvSpPr>
            <p:cNvPr id="41" name="Text 23">
              <a:extLst>
                <a:ext uri="{FF2B5EF4-FFF2-40B4-BE49-F238E27FC236}">
                  <a16:creationId xmlns:a16="http://schemas.microsoft.com/office/drawing/2014/main" id="{257C8746-DACF-D60A-479D-91E595EAA5AC}"/>
                </a:ext>
              </a:extLst>
            </p:cNvPr>
            <p:cNvSpPr/>
            <p:nvPr/>
          </p:nvSpPr>
          <p:spPr>
            <a:xfrm>
              <a:off x="868680" y="4544568"/>
              <a:ext cx="3383280" cy="274320"/>
            </a:xfrm>
            <a:prstGeom prst="rect">
              <a:avLst/>
            </a:prstGeom>
            <a:noFill/>
            <a:ln/>
          </p:spPr>
          <p:txBody>
            <a:bodyPr wrap="square" lIns="0" tIns="0" rIns="0" bIns="0" rtlCol="0" anchor="ctr"/>
            <a:lstStyle/>
            <a:p>
              <a:pPr marL="0" indent="0">
                <a:buNone/>
              </a:pPr>
              <a:r>
                <a:rPr lang="en-US" sz="950" dirty="0">
                  <a:solidFill>
                    <a:srgbClr val="B0BEC5"/>
                  </a:solidFill>
                  <a:latin typeface="Times New Roman" panose="02020603050405020304" pitchFamily="18" charset="0"/>
                  <a:ea typeface="Calibri" pitchFamily="34" charset="-122"/>
                  <a:cs typeface="Times New Roman" panose="02020603050405020304" pitchFamily="18" charset="0"/>
                </a:rPr>
                <a:t>Grounded outputs with limitations stated — not gambling advice</a:t>
              </a:r>
              <a:endParaRPr lang="en-US" sz="950" dirty="0">
                <a:latin typeface="Times New Roman" panose="02020603050405020304" pitchFamily="18" charset="0"/>
                <a:cs typeface="Times New Roman" panose="02020603050405020304" pitchFamily="18" charset="0"/>
              </a:endParaRPr>
            </a:p>
          </p:txBody>
        </p:sp>
        <p:sp>
          <p:nvSpPr>
            <p:cNvPr id="42" name="Shape 24">
              <a:extLst>
                <a:ext uri="{FF2B5EF4-FFF2-40B4-BE49-F238E27FC236}">
                  <a16:creationId xmlns:a16="http://schemas.microsoft.com/office/drawing/2014/main" id="{C6445970-D32C-5413-5226-79ADA9D1FD61}"/>
                </a:ext>
              </a:extLst>
            </p:cNvPr>
            <p:cNvSpPr/>
            <p:nvPr/>
          </p:nvSpPr>
          <p:spPr>
            <a:xfrm>
              <a:off x="4663440" y="1234440"/>
              <a:ext cx="4160520" cy="384048"/>
            </a:xfrm>
            <a:prstGeom prst="rect">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3" name="Text 25">
              <a:extLst>
                <a:ext uri="{FF2B5EF4-FFF2-40B4-BE49-F238E27FC236}">
                  <a16:creationId xmlns:a16="http://schemas.microsoft.com/office/drawing/2014/main" id="{7FF4FFAC-6A4B-AC6B-24C6-54558242D6EA}"/>
                </a:ext>
              </a:extLst>
            </p:cNvPr>
            <p:cNvSpPr/>
            <p:nvPr/>
          </p:nvSpPr>
          <p:spPr>
            <a:xfrm>
              <a:off x="4663440" y="1234440"/>
              <a:ext cx="41605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anose="02020603050405020304" pitchFamily="18" charset="0"/>
                  <a:cs typeface="Times New Roman" panose="02020603050405020304" pitchFamily="18" charset="0"/>
                </a:rPr>
                <a:t>SAMPLE QUERIES</a:t>
              </a:r>
              <a:endParaRPr lang="en-US" sz="1300" dirty="0">
                <a:latin typeface="Times New Roman" panose="02020603050405020304" pitchFamily="18" charset="0"/>
                <a:cs typeface="Times New Roman" panose="02020603050405020304" pitchFamily="18" charset="0"/>
              </a:endParaRPr>
            </a:p>
          </p:txBody>
        </p:sp>
        <p:sp>
          <p:nvSpPr>
            <p:cNvPr id="44" name="Shape 26">
              <a:extLst>
                <a:ext uri="{FF2B5EF4-FFF2-40B4-BE49-F238E27FC236}">
                  <a16:creationId xmlns:a16="http://schemas.microsoft.com/office/drawing/2014/main" id="{F133CE32-9084-0E0D-4B45-75B69D4EF537}"/>
                </a:ext>
              </a:extLst>
            </p:cNvPr>
            <p:cNvSpPr/>
            <p:nvPr/>
          </p:nvSpPr>
          <p:spPr>
            <a:xfrm>
              <a:off x="4663440" y="1737360"/>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5" name="Shape 27">
              <a:extLst>
                <a:ext uri="{FF2B5EF4-FFF2-40B4-BE49-F238E27FC236}">
                  <a16:creationId xmlns:a16="http://schemas.microsoft.com/office/drawing/2014/main" id="{DFFE79DA-A2A1-B0FA-2E28-2FE753F91E78}"/>
                </a:ext>
              </a:extLst>
            </p:cNvPr>
            <p:cNvSpPr/>
            <p:nvPr/>
          </p:nvSpPr>
          <p:spPr>
            <a:xfrm>
              <a:off x="4736592" y="1856232"/>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6" name="Text 28">
              <a:extLst>
                <a:ext uri="{FF2B5EF4-FFF2-40B4-BE49-F238E27FC236}">
                  <a16:creationId xmlns:a16="http://schemas.microsoft.com/office/drawing/2014/main" id="{4AE29C9D-F2FC-0804-FDE2-04AFF6D8F50A}"/>
                </a:ext>
              </a:extLst>
            </p:cNvPr>
            <p:cNvSpPr/>
            <p:nvPr/>
          </p:nvSpPr>
          <p:spPr>
            <a:xfrm>
              <a:off x="4736592" y="1856232"/>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1</a:t>
              </a:r>
              <a:endParaRPr lang="en-US" sz="800" dirty="0">
                <a:latin typeface="Times New Roman" panose="02020603050405020304" pitchFamily="18" charset="0"/>
                <a:cs typeface="Times New Roman" panose="02020603050405020304" pitchFamily="18" charset="0"/>
              </a:endParaRPr>
            </a:p>
          </p:txBody>
        </p:sp>
        <p:sp>
          <p:nvSpPr>
            <p:cNvPr id="47" name="Text 29">
              <a:extLst>
                <a:ext uri="{FF2B5EF4-FFF2-40B4-BE49-F238E27FC236}">
                  <a16:creationId xmlns:a16="http://schemas.microsoft.com/office/drawing/2014/main" id="{29986D52-05C7-749C-39B8-C85179AFF01D}"/>
                </a:ext>
              </a:extLst>
            </p:cNvPr>
            <p:cNvSpPr/>
            <p:nvPr/>
          </p:nvSpPr>
          <p:spPr>
            <a:xfrm>
              <a:off x="5047488" y="1810512"/>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"Who has scored the most goals in World Cup history?"</a:t>
              </a:r>
              <a:endParaRPr lang="en-US" sz="1000" dirty="0">
                <a:latin typeface="Times New Roman" panose="02020603050405020304" pitchFamily="18" charset="0"/>
                <a:cs typeface="Times New Roman" panose="02020603050405020304" pitchFamily="18" charset="0"/>
              </a:endParaRPr>
            </a:p>
          </p:txBody>
        </p:sp>
        <p:sp>
          <p:nvSpPr>
            <p:cNvPr id="48" name="Shape 30">
              <a:extLst>
                <a:ext uri="{FF2B5EF4-FFF2-40B4-BE49-F238E27FC236}">
                  <a16:creationId xmlns:a16="http://schemas.microsoft.com/office/drawing/2014/main" id="{A9655F26-466A-7851-0C44-3A9BDD9AB33B}"/>
                </a:ext>
              </a:extLst>
            </p:cNvPr>
            <p:cNvSpPr/>
            <p:nvPr/>
          </p:nvSpPr>
          <p:spPr>
            <a:xfrm>
              <a:off x="4663440" y="2313432"/>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1" name="Shape 31">
              <a:extLst>
                <a:ext uri="{FF2B5EF4-FFF2-40B4-BE49-F238E27FC236}">
                  <a16:creationId xmlns:a16="http://schemas.microsoft.com/office/drawing/2014/main" id="{92FE828D-096C-95CE-E199-441DC5859FED}"/>
                </a:ext>
              </a:extLst>
            </p:cNvPr>
            <p:cNvSpPr/>
            <p:nvPr/>
          </p:nvSpPr>
          <p:spPr>
            <a:xfrm>
              <a:off x="4736592" y="2432304"/>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2" name="Text 32">
              <a:extLst>
                <a:ext uri="{FF2B5EF4-FFF2-40B4-BE49-F238E27FC236}">
                  <a16:creationId xmlns:a16="http://schemas.microsoft.com/office/drawing/2014/main" id="{EEBF0448-DF74-3A4A-65EB-9E17ED331CE9}"/>
                </a:ext>
              </a:extLst>
            </p:cNvPr>
            <p:cNvSpPr/>
            <p:nvPr/>
          </p:nvSpPr>
          <p:spPr>
            <a:xfrm>
              <a:off x="4736592" y="2432304"/>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2</a:t>
              </a:r>
              <a:endParaRPr lang="en-US" sz="800" dirty="0">
                <a:latin typeface="Times New Roman" panose="02020603050405020304" pitchFamily="18" charset="0"/>
                <a:cs typeface="Times New Roman" panose="02020603050405020304" pitchFamily="18" charset="0"/>
              </a:endParaRPr>
            </a:p>
          </p:txBody>
        </p:sp>
        <p:sp>
          <p:nvSpPr>
            <p:cNvPr id="53" name="Text 33">
              <a:extLst>
                <a:ext uri="{FF2B5EF4-FFF2-40B4-BE49-F238E27FC236}">
                  <a16:creationId xmlns:a16="http://schemas.microsoft.com/office/drawing/2014/main" id="{BDC72E0F-B5F8-C01C-A328-C4AC118DCB13}"/>
                </a:ext>
              </a:extLst>
            </p:cNvPr>
            <p:cNvSpPr/>
            <p:nvPr/>
          </p:nvSpPr>
          <p:spPr>
            <a:xfrm>
              <a:off x="5047488" y="2386584"/>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"Which country has won the most World Cups?"</a:t>
              </a:r>
              <a:endParaRPr lang="en-US" sz="1000" dirty="0">
                <a:latin typeface="Times New Roman" panose="02020603050405020304" pitchFamily="18" charset="0"/>
                <a:cs typeface="Times New Roman" panose="02020603050405020304" pitchFamily="18" charset="0"/>
              </a:endParaRPr>
            </a:p>
          </p:txBody>
        </p:sp>
        <p:sp>
          <p:nvSpPr>
            <p:cNvPr id="54" name="Shape 34">
              <a:extLst>
                <a:ext uri="{FF2B5EF4-FFF2-40B4-BE49-F238E27FC236}">
                  <a16:creationId xmlns:a16="http://schemas.microsoft.com/office/drawing/2014/main" id="{0B37FA60-9CB4-4B7B-6E96-0672ED9EF41B}"/>
                </a:ext>
              </a:extLst>
            </p:cNvPr>
            <p:cNvSpPr/>
            <p:nvPr/>
          </p:nvSpPr>
          <p:spPr>
            <a:xfrm>
              <a:off x="4663440" y="2889504"/>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5" name="Shape 35">
              <a:extLst>
                <a:ext uri="{FF2B5EF4-FFF2-40B4-BE49-F238E27FC236}">
                  <a16:creationId xmlns:a16="http://schemas.microsoft.com/office/drawing/2014/main" id="{3F4ECEA4-3D77-67BD-7567-57DF12F30478}"/>
                </a:ext>
              </a:extLst>
            </p:cNvPr>
            <p:cNvSpPr/>
            <p:nvPr/>
          </p:nvSpPr>
          <p:spPr>
            <a:xfrm>
              <a:off x="4736592" y="3008376"/>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6" name="Text 36">
              <a:extLst>
                <a:ext uri="{FF2B5EF4-FFF2-40B4-BE49-F238E27FC236}">
                  <a16:creationId xmlns:a16="http://schemas.microsoft.com/office/drawing/2014/main" id="{4097B201-98AB-285E-9084-EDC7E6F7234D}"/>
                </a:ext>
              </a:extLst>
            </p:cNvPr>
            <p:cNvSpPr/>
            <p:nvPr/>
          </p:nvSpPr>
          <p:spPr>
            <a:xfrm>
              <a:off x="4736592" y="3008376"/>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3</a:t>
              </a:r>
              <a:endParaRPr lang="en-US" sz="800" dirty="0">
                <a:latin typeface="Times New Roman" panose="02020603050405020304" pitchFamily="18" charset="0"/>
                <a:cs typeface="Times New Roman" panose="02020603050405020304" pitchFamily="18" charset="0"/>
              </a:endParaRPr>
            </a:p>
          </p:txBody>
        </p:sp>
        <p:sp>
          <p:nvSpPr>
            <p:cNvPr id="57" name="Text 37">
              <a:extLst>
                <a:ext uri="{FF2B5EF4-FFF2-40B4-BE49-F238E27FC236}">
                  <a16:creationId xmlns:a16="http://schemas.microsoft.com/office/drawing/2014/main" id="{87577F91-052C-1582-53BB-154BCEE292C2}"/>
                </a:ext>
              </a:extLst>
            </p:cNvPr>
            <p:cNvSpPr/>
            <p:nvPr/>
          </p:nvSpPr>
          <p:spPr>
            <a:xfrm>
              <a:off x="5047488" y="2962656"/>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"predict: Brazil vs Germany"</a:t>
              </a:r>
              <a:endParaRPr lang="en-US" sz="1000" dirty="0">
                <a:latin typeface="Times New Roman" panose="02020603050405020304" pitchFamily="18" charset="0"/>
                <a:cs typeface="Times New Roman" panose="02020603050405020304" pitchFamily="18" charset="0"/>
              </a:endParaRPr>
            </a:p>
          </p:txBody>
        </p:sp>
        <p:sp>
          <p:nvSpPr>
            <p:cNvPr id="58" name="Shape 38">
              <a:extLst>
                <a:ext uri="{FF2B5EF4-FFF2-40B4-BE49-F238E27FC236}">
                  <a16:creationId xmlns:a16="http://schemas.microsoft.com/office/drawing/2014/main" id="{10AE559C-EF74-0CA8-D59D-A575AC669350}"/>
                </a:ext>
              </a:extLst>
            </p:cNvPr>
            <p:cNvSpPr/>
            <p:nvPr/>
          </p:nvSpPr>
          <p:spPr>
            <a:xfrm>
              <a:off x="4663440" y="3465576"/>
              <a:ext cx="4160520" cy="475488"/>
            </a:xfrm>
            <a:prstGeom prst="rect">
              <a:avLst/>
            </a:prstGeom>
            <a:solidFill>
              <a:srgbClr val="E8EEF4"/>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9" name="Shape 39">
              <a:extLst>
                <a:ext uri="{FF2B5EF4-FFF2-40B4-BE49-F238E27FC236}">
                  <a16:creationId xmlns:a16="http://schemas.microsoft.com/office/drawing/2014/main" id="{132226F9-7092-A164-D1E9-7C778E8808EE}"/>
                </a:ext>
              </a:extLst>
            </p:cNvPr>
            <p:cNvSpPr/>
            <p:nvPr/>
          </p:nvSpPr>
          <p:spPr>
            <a:xfrm>
              <a:off x="4736592" y="3584448"/>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0" name="Text 40">
              <a:extLst>
                <a:ext uri="{FF2B5EF4-FFF2-40B4-BE49-F238E27FC236}">
                  <a16:creationId xmlns:a16="http://schemas.microsoft.com/office/drawing/2014/main" id="{F8269D1E-2D0E-7E5D-40E9-84D8EAC5BDF4}"/>
                </a:ext>
              </a:extLst>
            </p:cNvPr>
            <p:cNvSpPr/>
            <p:nvPr/>
          </p:nvSpPr>
          <p:spPr>
            <a:xfrm>
              <a:off x="4736592" y="3584448"/>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4</a:t>
              </a:r>
              <a:endParaRPr lang="en-US" sz="800" dirty="0">
                <a:latin typeface="Times New Roman" panose="02020603050405020304" pitchFamily="18" charset="0"/>
                <a:cs typeface="Times New Roman" panose="02020603050405020304" pitchFamily="18" charset="0"/>
              </a:endParaRPr>
            </a:p>
          </p:txBody>
        </p:sp>
        <p:sp>
          <p:nvSpPr>
            <p:cNvPr id="61" name="Text 41">
              <a:extLst>
                <a:ext uri="{FF2B5EF4-FFF2-40B4-BE49-F238E27FC236}">
                  <a16:creationId xmlns:a16="http://schemas.microsoft.com/office/drawing/2014/main" id="{98ECA72E-1493-C8E1-CAE8-B625B1C52BF1}"/>
                </a:ext>
              </a:extLst>
            </p:cNvPr>
            <p:cNvSpPr/>
            <p:nvPr/>
          </p:nvSpPr>
          <p:spPr>
            <a:xfrm>
              <a:off x="5047488" y="3538728"/>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"How many times has Argentina reached the final?"</a:t>
              </a:r>
              <a:endParaRPr lang="en-US" sz="1000" dirty="0">
                <a:latin typeface="Times New Roman" panose="02020603050405020304" pitchFamily="18" charset="0"/>
                <a:cs typeface="Times New Roman" panose="02020603050405020304" pitchFamily="18" charset="0"/>
              </a:endParaRPr>
            </a:p>
          </p:txBody>
        </p:sp>
        <p:sp>
          <p:nvSpPr>
            <p:cNvPr id="62" name="Shape 42">
              <a:extLst>
                <a:ext uri="{FF2B5EF4-FFF2-40B4-BE49-F238E27FC236}">
                  <a16:creationId xmlns:a16="http://schemas.microsoft.com/office/drawing/2014/main" id="{B19EDCB3-36A2-D663-EA9A-A30E2C394DD0}"/>
                </a:ext>
              </a:extLst>
            </p:cNvPr>
            <p:cNvSpPr/>
            <p:nvPr/>
          </p:nvSpPr>
          <p:spPr>
            <a:xfrm>
              <a:off x="4663440" y="4041648"/>
              <a:ext cx="4160520" cy="475488"/>
            </a:xfrm>
            <a:prstGeom prst="rect">
              <a:avLst/>
            </a:prstGeom>
            <a:solidFill>
              <a:srgbClr val="F0F4F8"/>
            </a:solidFill>
            <a:ln w="6350">
              <a:solidFill>
                <a:srgbClr val="D0D8E4"/>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3" name="Shape 43">
              <a:extLst>
                <a:ext uri="{FF2B5EF4-FFF2-40B4-BE49-F238E27FC236}">
                  <a16:creationId xmlns:a16="http://schemas.microsoft.com/office/drawing/2014/main" id="{3D142E3C-8B0D-BDE4-8E39-FD7231EABAE3}"/>
                </a:ext>
              </a:extLst>
            </p:cNvPr>
            <p:cNvSpPr/>
            <p:nvPr/>
          </p:nvSpPr>
          <p:spPr>
            <a:xfrm>
              <a:off x="4736592" y="4160520"/>
              <a:ext cx="246888" cy="246888"/>
            </a:xfrm>
            <a:prstGeom prst="ellipse">
              <a:avLst/>
            </a:prstGeom>
            <a:solidFill>
              <a:srgbClr val="0EA5A0"/>
            </a:solidFill>
            <a:ln w="12700">
              <a:solidFill>
                <a:srgbClr val="0EA5A0"/>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64" name="Text 44">
              <a:extLst>
                <a:ext uri="{FF2B5EF4-FFF2-40B4-BE49-F238E27FC236}">
                  <a16:creationId xmlns:a16="http://schemas.microsoft.com/office/drawing/2014/main" id="{731B49B6-4130-1D81-7485-CC64BC42D8A9}"/>
                </a:ext>
              </a:extLst>
            </p:cNvPr>
            <p:cNvSpPr/>
            <p:nvPr/>
          </p:nvSpPr>
          <p:spPr>
            <a:xfrm>
              <a:off x="4736592" y="4160520"/>
              <a:ext cx="246888" cy="246888"/>
            </a:xfrm>
            <a:prstGeom prst="rect">
              <a:avLst/>
            </a:prstGeom>
            <a:noFill/>
            <a:ln/>
          </p:spPr>
          <p:txBody>
            <a:bodyPr wrap="square" lIns="0" tIns="0" rIns="0" bIns="0" rtlCol="0" anchor="ctr"/>
            <a:lstStyle/>
            <a:p>
              <a:pPr marL="0" indent="0" algn="ctr">
                <a:buNone/>
              </a:pPr>
              <a:r>
                <a:rPr lang="en-US" sz="800" b="1" dirty="0">
                  <a:solidFill>
                    <a:srgbClr val="FFFFFF"/>
                  </a:solidFill>
                  <a:latin typeface="Times New Roman" panose="02020603050405020304" pitchFamily="18" charset="0"/>
                  <a:cs typeface="Times New Roman" panose="02020603050405020304" pitchFamily="18" charset="0"/>
                </a:rPr>
                <a:t>5</a:t>
              </a:r>
              <a:endParaRPr lang="en-US" sz="800" dirty="0">
                <a:latin typeface="Times New Roman" panose="02020603050405020304" pitchFamily="18" charset="0"/>
                <a:cs typeface="Times New Roman" panose="02020603050405020304" pitchFamily="18" charset="0"/>
              </a:endParaRPr>
            </a:p>
          </p:txBody>
        </p:sp>
        <p:sp>
          <p:nvSpPr>
            <p:cNvPr id="65" name="Text 45">
              <a:extLst>
                <a:ext uri="{FF2B5EF4-FFF2-40B4-BE49-F238E27FC236}">
                  <a16:creationId xmlns:a16="http://schemas.microsoft.com/office/drawing/2014/main" id="{023BC053-4322-0BAA-4108-D7615F4B5D49}"/>
                </a:ext>
              </a:extLst>
            </p:cNvPr>
            <p:cNvSpPr/>
            <p:nvPr/>
          </p:nvSpPr>
          <p:spPr>
            <a:xfrm>
              <a:off x="5047488" y="4114800"/>
              <a:ext cx="3657600" cy="347472"/>
            </a:xfrm>
            <a:prstGeom prst="rect">
              <a:avLst/>
            </a:prstGeom>
            <a:noFill/>
            <a:ln/>
          </p:spPr>
          <p:txBody>
            <a:bodyPr wrap="square" lIns="0" tIns="0" rIns="0" bIns="0" rtlCol="0" anchor="ctr"/>
            <a:lstStyle/>
            <a:p>
              <a:pPr marL="0" indent="0">
                <a:buNone/>
              </a:pPr>
              <a:r>
                <a:rPr lang="en-US" sz="1000" i="1" dirty="0">
                  <a:solidFill>
                    <a:srgbClr val="2C3E50"/>
                  </a:solidFill>
                  <a:latin typeface="Times New Roman" panose="02020603050405020304" pitchFamily="18" charset="0"/>
                  <a:ea typeface="Calibri" pitchFamily="34" charset="-122"/>
                  <a:cs typeface="Times New Roman" panose="02020603050405020304" pitchFamily="18" charset="0"/>
                </a:rPr>
                <a:t>"What was the biggest upset in World Cup history?"</a:t>
              </a:r>
              <a:endParaRPr lang="en-US" sz="10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83420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 name="Rectangle 2"/>
          <p:cNvSpPr/>
          <p:nvPr/>
        </p:nvSpPr>
        <p:spPr>
          <a:xfrm>
            <a:off x="0" y="0"/>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 name="Rectangle 3"/>
          <p:cNvSpPr/>
          <p:nvPr/>
        </p:nvSpPr>
        <p:spPr>
          <a:xfrm>
            <a:off x="0" y="6784848"/>
            <a:ext cx="12188952" cy="73152"/>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365760" y="274320"/>
            <a:ext cx="914400" cy="769441"/>
          </a:xfrm>
          <a:prstGeom prst="rect">
            <a:avLst/>
          </a:prstGeom>
          <a:noFill/>
        </p:spPr>
        <p:txBody>
          <a:bodyPr wrap="square">
            <a:spAutoFit/>
          </a:bodyPr>
          <a:lstStyle/>
          <a:p>
            <a:pPr algn="l"/>
            <a:r>
              <a:rPr sz="4400" b="0" i="0" dirty="0">
                <a:solidFill>
                  <a:srgbClr val="FFFFFF"/>
                </a:solidFill>
                <a:latin typeface="Times New Roman" panose="02020603050405020304" pitchFamily="18" charset="0"/>
                <a:cs typeface="Times New Roman" panose="02020603050405020304" pitchFamily="18" charset="0"/>
              </a:rPr>
              <a:t>⚽</a:t>
            </a:r>
          </a:p>
        </p:txBody>
      </p:sp>
      <p:sp>
        <p:nvSpPr>
          <p:cNvPr id="6" name="TextBox 5"/>
          <p:cNvSpPr txBox="1"/>
          <p:nvPr/>
        </p:nvSpPr>
        <p:spPr>
          <a:xfrm>
            <a:off x="1188720" y="228600"/>
            <a:ext cx="9601200" cy="492443"/>
          </a:xfrm>
          <a:prstGeom prst="rect">
            <a:avLst/>
          </a:prstGeom>
          <a:noFill/>
        </p:spPr>
        <p:txBody>
          <a:bodyPr wrap="square">
            <a:spAutoFit/>
          </a:bodyPr>
          <a:lstStyle/>
          <a:p>
            <a:pPr algn="l"/>
            <a:r>
              <a:rPr sz="2600" b="1" i="0">
                <a:solidFill>
                  <a:srgbClr val="FFFFFF"/>
                </a:solidFill>
                <a:latin typeface="Times New Roman" panose="02020603050405020304" pitchFamily="18" charset="0"/>
                <a:cs typeface="Times New Roman" panose="02020603050405020304" pitchFamily="18" charset="0"/>
              </a:rPr>
              <a:t>Limitations, Responsible AI &amp; Future Work</a:t>
            </a:r>
          </a:p>
        </p:txBody>
      </p:sp>
      <p:sp>
        <p:nvSpPr>
          <p:cNvPr id="7" name="TextBox 6"/>
          <p:cNvSpPr txBox="1"/>
          <p:nvPr/>
        </p:nvSpPr>
        <p:spPr>
          <a:xfrm>
            <a:off x="1188720" y="841248"/>
            <a:ext cx="9144000" cy="276999"/>
          </a:xfrm>
          <a:prstGeom prst="rect">
            <a:avLst/>
          </a:prstGeom>
          <a:noFill/>
        </p:spPr>
        <p:txBody>
          <a:bodyPr wrap="square">
            <a:spAutoFit/>
          </a:bodyPr>
          <a:lstStyle/>
          <a:p>
            <a:pPr algn="l"/>
            <a:r>
              <a:rPr sz="1200" b="0" i="1">
                <a:solidFill>
                  <a:srgbClr val="CCD6E0"/>
                </a:solidFill>
                <a:latin typeface="Times New Roman" panose="02020603050405020304" pitchFamily="18" charset="0"/>
                <a:cs typeface="Times New Roman" panose="02020603050405020304" pitchFamily="18" charset="0"/>
              </a:rPr>
              <a:t>Group </a:t>
            </a:r>
            <a:r>
              <a:rPr lang="en-US" sz="1200" b="0" i="1">
                <a:solidFill>
                  <a:srgbClr val="CCD6E0"/>
                </a:solidFill>
                <a:latin typeface="Times New Roman" panose="02020603050405020304" pitchFamily="18" charset="0"/>
                <a:cs typeface="Times New Roman" panose="02020603050405020304" pitchFamily="18" charset="0"/>
              </a:rPr>
              <a:t>5</a:t>
            </a:r>
            <a:r>
              <a:rPr sz="1200" b="0" i="1">
                <a:solidFill>
                  <a:srgbClr val="CCD6E0"/>
                </a:solidFill>
                <a:latin typeface="Times New Roman" panose="02020603050405020304" pitchFamily="18" charset="0"/>
                <a:cs typeface="Times New Roman" panose="02020603050405020304" pitchFamily="18" charset="0"/>
              </a:rPr>
              <a:t>  </a:t>
            </a:r>
            <a:r>
              <a:rPr sz="1200" b="0" i="1" dirty="0">
                <a:solidFill>
                  <a:srgbClr val="CCD6E0"/>
                </a:solidFill>
                <a:latin typeface="Times New Roman" panose="02020603050405020304" pitchFamily="18" charset="0"/>
                <a:cs typeface="Times New Roman" panose="02020603050405020304" pitchFamily="18" charset="0"/>
              </a:rPr>
              <a:t>·  World Cup GenAI Hackathon  ·  Spring 2026</a:t>
            </a:r>
          </a:p>
        </p:txBody>
      </p:sp>
      <p:sp>
        <p:nvSpPr>
          <p:cNvPr id="8" name="Rectangle 7"/>
          <p:cNvSpPr/>
          <p:nvPr/>
        </p:nvSpPr>
        <p:spPr>
          <a:xfrm>
            <a:off x="365760" y="1325880"/>
            <a:ext cx="5394960" cy="384048"/>
          </a:xfrm>
          <a:prstGeom prst="rect">
            <a:avLst/>
          </a:prstGeom>
          <a:solidFill>
            <a:srgbClr val="E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502920" y="1353312"/>
            <a:ext cx="5212080" cy="292388"/>
          </a:xfrm>
          <a:prstGeom prst="rect">
            <a:avLst/>
          </a:prstGeom>
          <a:noFill/>
        </p:spPr>
        <p:txBody>
          <a:bodyPr wrap="square">
            <a:spAutoFit/>
          </a:bodyPr>
          <a:lstStyle/>
          <a:p>
            <a:pPr algn="l"/>
            <a:r>
              <a:rPr lang="en-IN" sz="1300" b="1" i="0" dirty="0">
                <a:solidFill>
                  <a:srgbClr val="FFFFFF"/>
                </a:solidFill>
                <a:latin typeface="Times New Roman" panose="02020603050405020304" pitchFamily="18" charset="0"/>
                <a:cs typeface="Times New Roman" panose="02020603050405020304" pitchFamily="18" charset="0"/>
              </a:rPr>
              <a:t>Known Limitations</a:t>
            </a:r>
            <a:endParaRPr sz="1300" b="1" i="0" dirty="0">
              <a:solidFill>
                <a:srgbClr val="FFFFFF"/>
              </a:solidFill>
              <a:latin typeface="Times New Roman" panose="02020603050405020304" pitchFamily="18" charset="0"/>
              <a:cs typeface="Times New Roman" panose="02020603050405020304" pitchFamily="18" charset="0"/>
            </a:endParaRPr>
          </a:p>
        </p:txBody>
      </p:sp>
      <p:sp>
        <p:nvSpPr>
          <p:cNvPr id="10" name="TextBox 9"/>
          <p:cNvSpPr txBox="1"/>
          <p:nvPr/>
        </p:nvSpPr>
        <p:spPr>
          <a:xfrm>
            <a:off x="502920" y="1783080"/>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Data coverage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2514600" y="1822840"/>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dataset covers international matches through early 2026 including all World Cups through 2022. As with any historical dataset, the most recent matches may not yet be reflected.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02920" y="2350008"/>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Recent form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2514600" y="2355143"/>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Recent form is computed from the last 10 international matches across all competitions, which provides a broad signal but may weigh friendlies equally with competitive fixtures.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502920" y="2916936"/>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Historical comparisons</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2514600" y="3025946"/>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Comparing teams across different football eras naturally involves some approximation, as rules, team composition, and competition standards evolve over time.</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502920" y="3483863"/>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Prediction scope</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2514600" y="3558249"/>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Predictions are based on historical statistical patterns and do not incorporate real-time factors such as current squad fitness, managerial tactics, or match-day conditions.</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18" name="TextBox 17"/>
          <p:cNvSpPr txBox="1"/>
          <p:nvPr/>
        </p:nvSpPr>
        <p:spPr>
          <a:xfrm>
            <a:off x="502920" y="4050791"/>
            <a:ext cx="2011680" cy="261610"/>
          </a:xfrm>
          <a:prstGeom prst="rect">
            <a:avLst/>
          </a:prstGeom>
          <a:noFill/>
        </p:spPr>
        <p:txBody>
          <a:bodyPr wrap="square">
            <a:spAutoFit/>
          </a:bodyPr>
          <a:lstStyle/>
          <a:p>
            <a:r>
              <a:rPr lang="en-US" sz="1100" b="1" dirty="0">
                <a:solidFill>
                  <a:srgbClr val="E06000"/>
                </a:solidFill>
                <a:latin typeface="Times New Roman" panose="02020603050405020304" pitchFamily="18" charset="0"/>
                <a:cs typeface="Times New Roman" panose="02020603050405020304" pitchFamily="18" charset="0"/>
              </a:rPr>
              <a:t>Model behavior</a:t>
            </a:r>
            <a:endParaRPr sz="1100" b="1" i="0" dirty="0">
              <a:solidFill>
                <a:srgbClr val="E06000"/>
              </a:solidFill>
              <a:latin typeface="Times New Roman" panose="02020603050405020304" pitchFamily="18" charset="0"/>
              <a:cs typeface="Times New Roman" panose="02020603050405020304" pitchFamily="18" charset="0"/>
            </a:endParaRPr>
          </a:p>
        </p:txBody>
      </p:sp>
      <p:sp>
        <p:nvSpPr>
          <p:cNvPr id="19" name="TextBox 18"/>
          <p:cNvSpPr txBox="1"/>
          <p:nvPr/>
        </p:nvSpPr>
        <p:spPr>
          <a:xfrm>
            <a:off x="2514600" y="4090551"/>
            <a:ext cx="3063240" cy="507831"/>
          </a:xfrm>
          <a:prstGeom prst="rect">
            <a:avLst/>
          </a:prstGeom>
          <a:noFill/>
        </p:spPr>
        <p:txBody>
          <a:bodyPr wrap="square">
            <a:spAutoFit/>
          </a:bodyPr>
          <a:lstStyle/>
          <a:p>
            <a:r>
              <a:rPr lang="en-US" sz="900" dirty="0">
                <a:solidFill>
                  <a:srgbClr val="EAF0FB"/>
                </a:solidFill>
                <a:latin typeface="Times New Roman" panose="02020603050405020304" pitchFamily="18" charset="0"/>
                <a:cs typeface="Times New Roman" panose="02020603050405020304" pitchFamily="18" charset="0"/>
              </a:rPr>
              <a:t>The LLM synthesizes text based on retrieved and computed evidence, and is explicitly prompted to avoid speculation, though no language model is perfectly constrained.</a:t>
            </a:r>
            <a:endParaRPr sz="900" b="0" i="0" dirty="0">
              <a:solidFill>
                <a:srgbClr val="EAF0FB"/>
              </a:solidFill>
              <a:latin typeface="Times New Roman" panose="02020603050405020304" pitchFamily="18" charset="0"/>
              <a:cs typeface="Times New Roman" panose="02020603050405020304" pitchFamily="18" charset="0"/>
            </a:endParaRPr>
          </a:p>
        </p:txBody>
      </p:sp>
      <p:sp>
        <p:nvSpPr>
          <p:cNvPr id="20" name="Rectangle 19"/>
          <p:cNvSpPr/>
          <p:nvPr/>
        </p:nvSpPr>
        <p:spPr>
          <a:xfrm>
            <a:off x="365760" y="4709160"/>
            <a:ext cx="5394960" cy="384048"/>
          </a:xfrm>
          <a:prstGeom prst="rect">
            <a:avLst/>
          </a:prstGeom>
          <a:solidFill>
            <a:srgbClr val="1A4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TextBox 20"/>
          <p:cNvSpPr txBox="1"/>
          <p:nvPr/>
        </p:nvSpPr>
        <p:spPr>
          <a:xfrm>
            <a:off x="502920" y="4736592"/>
            <a:ext cx="5212080" cy="292388"/>
          </a:xfrm>
          <a:prstGeom prst="rect">
            <a:avLst/>
          </a:prstGeom>
          <a:noFill/>
        </p:spPr>
        <p:txBody>
          <a:bodyPr wrap="square">
            <a:spAutoFit/>
          </a:bodyPr>
          <a:lstStyle/>
          <a:p>
            <a:pPr algn="l"/>
            <a:r>
              <a:rPr sz="1300" b="1" i="0" dirty="0">
                <a:solidFill>
                  <a:srgbClr val="FFFFFF"/>
                </a:solidFill>
                <a:latin typeface="Times New Roman" panose="02020603050405020304" pitchFamily="18" charset="0"/>
                <a:cs typeface="Times New Roman" panose="02020603050405020304" pitchFamily="18" charset="0"/>
              </a:rPr>
              <a:t>Future Enhancements</a:t>
            </a:r>
          </a:p>
        </p:txBody>
      </p:sp>
      <p:sp>
        <p:nvSpPr>
          <p:cNvPr id="22" name="TextBox 21"/>
          <p:cNvSpPr txBox="1"/>
          <p:nvPr/>
        </p:nvSpPr>
        <p:spPr>
          <a:xfrm>
            <a:off x="502920" y="5166360"/>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Elo rating integration</a:t>
            </a:r>
          </a:p>
        </p:txBody>
      </p:sp>
      <p:sp>
        <p:nvSpPr>
          <p:cNvPr id="24" name="TextBox 23"/>
          <p:cNvSpPr txBox="1"/>
          <p:nvPr/>
        </p:nvSpPr>
        <p:spPr>
          <a:xfrm>
            <a:off x="502920" y="5482944"/>
            <a:ext cx="5120640" cy="307777"/>
          </a:xfrm>
          <a:prstGeom prst="rect">
            <a:avLst/>
          </a:prstGeom>
          <a:noFill/>
        </p:spPr>
        <p:txBody>
          <a:bodyPr wrap="square">
            <a:spAutoFit/>
          </a:bodyPr>
          <a:lstStyle/>
          <a:p>
            <a:pPr algn="l"/>
            <a:r>
              <a:rPr sz="1400" b="0" i="0" dirty="0">
                <a:solidFill>
                  <a:srgbClr val="EAF0FB"/>
                </a:solidFill>
                <a:latin typeface="Times New Roman" panose="02020603050405020304" pitchFamily="18" charset="0"/>
                <a:cs typeface="Times New Roman" panose="02020603050405020304" pitchFamily="18" charset="0"/>
              </a:rPr>
              <a:t>▸ Tournament bracket simulation</a:t>
            </a:r>
          </a:p>
        </p:txBody>
      </p:sp>
      <p:sp>
        <p:nvSpPr>
          <p:cNvPr id="25" name="TextBox 24"/>
          <p:cNvSpPr txBox="1"/>
          <p:nvPr/>
        </p:nvSpPr>
        <p:spPr>
          <a:xfrm>
            <a:off x="502920" y="5848704"/>
            <a:ext cx="5120640" cy="307777"/>
          </a:xfrm>
          <a:prstGeom prst="rect">
            <a:avLst/>
          </a:prstGeom>
          <a:noFill/>
        </p:spPr>
        <p:txBody>
          <a:bodyPr wrap="square">
            <a:spAutoFit/>
          </a:bodyPr>
          <a:lstStyle/>
          <a:p>
            <a:pPr algn="l"/>
            <a:r>
              <a:rPr sz="1400" b="0" i="0">
                <a:solidFill>
                  <a:srgbClr val="EAF0FB"/>
                </a:solidFill>
                <a:latin typeface="Times New Roman" panose="02020603050405020304" pitchFamily="18" charset="0"/>
                <a:cs typeface="Times New Roman" panose="02020603050405020304" pitchFamily="18" charset="0"/>
              </a:rPr>
              <a:t>▸ Player-level squad stats</a:t>
            </a:r>
          </a:p>
        </p:txBody>
      </p:sp>
      <p:sp>
        <p:nvSpPr>
          <p:cNvPr id="26" name="Rectangle 25"/>
          <p:cNvSpPr/>
          <p:nvPr/>
        </p:nvSpPr>
        <p:spPr>
          <a:xfrm>
            <a:off x="6035040" y="1325880"/>
            <a:ext cx="5806440" cy="5230368"/>
          </a:xfrm>
          <a:prstGeom prst="rect">
            <a:avLst/>
          </a:prstGeom>
          <a:solidFill>
            <a:srgbClr val="123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7" name="TextBox 26"/>
          <p:cNvSpPr txBox="1"/>
          <p:nvPr/>
        </p:nvSpPr>
        <p:spPr>
          <a:xfrm>
            <a:off x="6217920" y="1417320"/>
            <a:ext cx="5486400" cy="400110"/>
          </a:xfrm>
          <a:prstGeom prst="rect">
            <a:avLst/>
          </a:prstGeom>
          <a:noFill/>
        </p:spPr>
        <p:txBody>
          <a:bodyPr wrap="square">
            <a:spAutoFit/>
          </a:bodyPr>
          <a:lstStyle/>
          <a:p>
            <a:pPr algn="l"/>
            <a:r>
              <a:rPr lang="en-IN" sz="2000" b="1" i="0" dirty="0">
                <a:solidFill>
                  <a:srgbClr val="C88600"/>
                </a:solidFill>
                <a:latin typeface="Times New Roman" panose="02020603050405020304" pitchFamily="18" charset="0"/>
                <a:cs typeface="Times New Roman" panose="02020603050405020304" pitchFamily="18" charset="0"/>
              </a:rPr>
              <a:t>Responsible AI</a:t>
            </a:r>
            <a:endParaRPr sz="2000" b="1" i="0" dirty="0">
              <a:solidFill>
                <a:srgbClr val="C88600"/>
              </a:solidFill>
              <a:latin typeface="Times New Roman" panose="02020603050405020304" pitchFamily="18" charset="0"/>
              <a:cs typeface="Times New Roman" panose="02020603050405020304" pitchFamily="18" charset="0"/>
            </a:endParaRPr>
          </a:p>
        </p:txBody>
      </p:sp>
      <p:sp>
        <p:nvSpPr>
          <p:cNvPr id="28" name="Rectangle 27"/>
          <p:cNvSpPr/>
          <p:nvPr/>
        </p:nvSpPr>
        <p:spPr>
          <a:xfrm>
            <a:off x="6217920" y="1810512"/>
            <a:ext cx="5212080" cy="36576"/>
          </a:xfrm>
          <a:prstGeom prst="rect">
            <a:avLst/>
          </a:prstGeom>
          <a:solidFill>
            <a:srgbClr val="C88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p:cNvSpPr txBox="1"/>
          <p:nvPr/>
        </p:nvSpPr>
        <p:spPr>
          <a:xfrm>
            <a:off x="6217920" y="1920240"/>
            <a:ext cx="5394960" cy="2554545"/>
          </a:xfrm>
          <a:prstGeom prst="rect">
            <a:avLst/>
          </a:prstGeom>
          <a:noFill/>
        </p:spPr>
        <p:txBody>
          <a:bodyPr wrap="square">
            <a:spAutoFit/>
          </a:bodyPr>
          <a:lstStyle/>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All statistics are computed from verifiable, publicly available source data.</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The LLM is instructed to avoid hallucinating statistics in all 4 prompt templates.</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Confidence levels and limitations are stated with every prediction.</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A dedicated fallback prompt prevents guessing when evidence is insufficient.</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Prompts explicitly discourage use as betting advice.</a:t>
            </a:r>
          </a:p>
          <a:p>
            <a:pPr marL="285750" indent="-285750" algn="just">
              <a:buFont typeface="Arial" panose="020B0604020202020204" pitchFamily="34" charset="0"/>
              <a:buChar char="•"/>
            </a:pPr>
            <a:r>
              <a:rPr lang="en-US" sz="1600" dirty="0">
                <a:solidFill>
                  <a:srgbClr val="FFFFFF"/>
                </a:solidFill>
                <a:latin typeface="Times New Roman" panose="02020603050405020304" pitchFamily="18" charset="0"/>
                <a:cs typeface="Times New Roman" panose="02020603050405020304" pitchFamily="18" charset="0"/>
              </a:rPr>
              <a:t>Data sources are cited with URLs and licensing information</a:t>
            </a:r>
            <a:endParaRPr sz="1600" b="0" i="0" dirty="0">
              <a:solidFill>
                <a:srgbClr val="FFFFFF"/>
              </a:solidFill>
              <a:latin typeface="Times New Roman" panose="02020603050405020304" pitchFamily="18" charset="0"/>
              <a:cs typeface="Times New Roman" panose="02020603050405020304" pitchFamily="18" charset="0"/>
            </a:endParaRPr>
          </a:p>
        </p:txBody>
      </p:sp>
      <p:sp>
        <p:nvSpPr>
          <p:cNvPr id="37" name="Rectangle 36"/>
          <p:cNvSpPr/>
          <p:nvPr/>
        </p:nvSpPr>
        <p:spPr>
          <a:xfrm>
            <a:off x="6035040" y="5989320"/>
            <a:ext cx="5806440" cy="566928"/>
          </a:xfrm>
          <a:prstGeom prst="rect">
            <a:avLst/>
          </a:prstGeom>
          <a:solidFill>
            <a:srgbClr val="00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8" name="TextBox 37"/>
          <p:cNvSpPr txBox="1"/>
          <p:nvPr/>
        </p:nvSpPr>
        <p:spPr>
          <a:xfrm>
            <a:off x="6172200" y="6035040"/>
            <a:ext cx="5577840" cy="307777"/>
          </a:xfrm>
          <a:prstGeom prst="rect">
            <a:avLst/>
          </a:prstGeom>
          <a:noFill/>
        </p:spPr>
        <p:txBody>
          <a:bodyPr wrap="square">
            <a:spAutoFit/>
          </a:bodyPr>
          <a:lstStyle/>
          <a:p>
            <a:pPr algn="ctr"/>
            <a:r>
              <a:rPr sz="1400" b="1" i="0">
                <a:solidFill>
                  <a:srgbClr val="FFFFFF"/>
                </a:solidFill>
                <a:latin typeface="Times New Roman" panose="02020603050405020304" pitchFamily="18" charset="0"/>
                <a:cs typeface="Times New Roman" panose="02020603050405020304" pitchFamily="18" charset="0"/>
              </a:rPr>
              <a:t>Thank you! Happy to take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1774</Words>
  <Application>Microsoft Macintosh PowerPoint</Application>
  <PresentationFormat>Custom</PresentationFormat>
  <Paragraphs>162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Novia Vijay Dsilva</cp:lastModifiedBy>
  <cp:revision>11</cp:revision>
  <dcterms:created xsi:type="dcterms:W3CDTF">2013-01-27T09:14:16Z</dcterms:created>
  <dcterms:modified xsi:type="dcterms:W3CDTF">2026-03-02T02:21:02Z</dcterms:modified>
  <cp:category/>
</cp:coreProperties>
</file>